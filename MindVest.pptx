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84"/>
  </p:normalViewPr>
  <p:slideViewPr>
    <p:cSldViewPr snapToGrid="0">
      <p:cViewPr varScale="1">
        <p:scale>
          <a:sx n="122" d="100"/>
          <a:sy n="122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FCC601-82B1-487B-B20B-E874F41E985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54905F-59A7-4A34-B432-A8EE80760ECA}">
      <dgm:prSet/>
      <dgm:spPr/>
      <dgm:t>
        <a:bodyPr/>
        <a:lstStyle/>
        <a:p>
          <a:r>
            <a:rPr lang="en-US" b="0" i="0" u="none" dirty="0"/>
            <a:t>Genç </a:t>
          </a:r>
          <a:r>
            <a:rPr lang="en-US" b="0" i="0" u="none" dirty="0" err="1"/>
            <a:t>yatırımcılar</a:t>
          </a:r>
          <a:r>
            <a:rPr lang="en-US" b="0" i="0" u="none" dirty="0"/>
            <a:t> </a:t>
          </a:r>
          <a:r>
            <a:rPr lang="en-US" b="0" i="0" u="none" dirty="0" err="1"/>
            <a:t>bilgiye</a:t>
          </a:r>
          <a:r>
            <a:rPr lang="en-US" b="0" i="0" u="none" dirty="0"/>
            <a:t> </a:t>
          </a:r>
          <a:r>
            <a:rPr lang="en-US" b="0" i="0" u="none" dirty="0" err="1"/>
            <a:t>erişebiliyor</a:t>
          </a:r>
          <a:r>
            <a:rPr lang="en-US" b="0" i="0" u="none" dirty="0"/>
            <a:t>, </a:t>
          </a:r>
          <a:r>
            <a:rPr lang="en-US" b="0" i="0" u="none" dirty="0" err="1"/>
            <a:t>ancak</a:t>
          </a:r>
          <a:r>
            <a:rPr lang="en-US" b="0" i="0" u="none" dirty="0"/>
            <a:t> </a:t>
          </a:r>
          <a:r>
            <a:rPr lang="en-US" b="0" i="0" u="none" dirty="0" err="1"/>
            <a:t>yüksek</a:t>
          </a:r>
          <a:r>
            <a:rPr lang="en-US" b="0" i="0" u="none" dirty="0"/>
            <a:t> </a:t>
          </a:r>
          <a:r>
            <a:rPr lang="en-US" b="0" i="0" u="none" dirty="0" err="1"/>
            <a:t>volatilite</a:t>
          </a:r>
          <a:r>
            <a:rPr lang="en-US" b="0" i="0" u="none" dirty="0"/>
            <a:t> </a:t>
          </a:r>
          <a:r>
            <a:rPr lang="en-US" b="0" i="0" u="none" dirty="0" err="1"/>
            <a:t>dönemlerinde</a:t>
          </a:r>
          <a:r>
            <a:rPr lang="en-US" b="0" i="0" u="none" dirty="0"/>
            <a:t> </a:t>
          </a:r>
          <a:r>
            <a:rPr lang="en-US" b="0" i="0" u="none" dirty="0" err="1"/>
            <a:t>karar</a:t>
          </a:r>
          <a:r>
            <a:rPr lang="en-US" b="0" i="0" u="none" dirty="0"/>
            <a:t> </a:t>
          </a:r>
          <a:r>
            <a:rPr lang="en-US" b="0" i="0" u="none" dirty="0" err="1"/>
            <a:t>süreçlerinde</a:t>
          </a:r>
          <a:r>
            <a:rPr lang="en-US" b="0" i="0" u="none" dirty="0"/>
            <a:t> </a:t>
          </a:r>
          <a:r>
            <a:rPr lang="en-US" b="0" i="0" u="none" dirty="0" err="1"/>
            <a:t>desteklenmiyor</a:t>
          </a:r>
          <a:r>
            <a:rPr lang="en-US" b="0" i="0" u="none" dirty="0"/>
            <a:t>.</a:t>
          </a:r>
          <a:endParaRPr lang="en-US" dirty="0"/>
        </a:p>
      </dgm:t>
    </dgm:pt>
    <dgm:pt modelId="{B7071AB0-1203-4F06-9B45-89A77BC9550C}" type="parTrans" cxnId="{6DF63DB0-A11F-4790-B1CE-35A8BBAB3320}">
      <dgm:prSet/>
      <dgm:spPr/>
      <dgm:t>
        <a:bodyPr/>
        <a:lstStyle/>
        <a:p>
          <a:endParaRPr lang="en-US"/>
        </a:p>
      </dgm:t>
    </dgm:pt>
    <dgm:pt modelId="{05A19C3F-C6CD-48CC-AA54-664DC9F6F19D}" type="sibTrans" cxnId="{6DF63DB0-A11F-4790-B1CE-35A8BBAB3320}">
      <dgm:prSet/>
      <dgm:spPr/>
      <dgm:t>
        <a:bodyPr/>
        <a:lstStyle/>
        <a:p>
          <a:endParaRPr lang="en-US"/>
        </a:p>
      </dgm:t>
    </dgm:pt>
    <dgm:pt modelId="{1A0AA78D-CD3C-4977-ADDE-ABF18720CEDC}">
      <dgm:prSet/>
      <dgm:spPr/>
      <dgm:t>
        <a:bodyPr/>
        <a:lstStyle/>
        <a:p>
          <a:r>
            <a:rPr lang="en-US" b="0" i="0" baseline="0" dirty="0"/>
            <a:t>– Yüksek </a:t>
          </a:r>
          <a:r>
            <a:rPr lang="en-US" b="0" i="0" baseline="0" dirty="0" err="1"/>
            <a:t>volatilite</a:t>
          </a:r>
          <a:r>
            <a:rPr lang="en-US" b="0" i="0" baseline="0" dirty="0"/>
            <a:t> </a:t>
          </a:r>
          <a:r>
            <a:rPr lang="en-US" b="0" i="0" baseline="0" dirty="0" err="1"/>
            <a:t>anlarında</a:t>
          </a:r>
          <a:r>
            <a:rPr lang="en-US" b="0" i="0" baseline="0" dirty="0"/>
            <a:t> ani </a:t>
          </a:r>
          <a:r>
            <a:rPr lang="en-US" b="0" i="0" baseline="0" dirty="0" err="1"/>
            <a:t>ve</a:t>
          </a:r>
          <a:r>
            <a:rPr lang="en-US" b="0" i="0" baseline="0" dirty="0"/>
            <a:t> </a:t>
          </a:r>
          <a:r>
            <a:rPr lang="en-US" b="0" i="0" baseline="0" dirty="0" err="1"/>
            <a:t>plansız</a:t>
          </a:r>
          <a:r>
            <a:rPr lang="en-US" b="0" i="0" baseline="0" dirty="0"/>
            <a:t> </a:t>
          </a:r>
          <a:r>
            <a:rPr lang="en-US" b="0" i="0" baseline="0" dirty="0" err="1"/>
            <a:t>satışlar</a:t>
          </a:r>
          <a:endParaRPr lang="en-US" dirty="0"/>
        </a:p>
      </dgm:t>
    </dgm:pt>
    <dgm:pt modelId="{8DECEE28-E04D-4968-9488-A59A9A2D6553}" type="parTrans" cxnId="{95692826-5B5B-4A28-A099-F23E01410415}">
      <dgm:prSet/>
      <dgm:spPr/>
      <dgm:t>
        <a:bodyPr/>
        <a:lstStyle/>
        <a:p>
          <a:endParaRPr lang="en-US"/>
        </a:p>
      </dgm:t>
    </dgm:pt>
    <dgm:pt modelId="{10401C68-5ED9-4164-8A60-A73B9D84390E}" type="sibTrans" cxnId="{95692826-5B5B-4A28-A099-F23E01410415}">
      <dgm:prSet/>
      <dgm:spPr/>
      <dgm:t>
        <a:bodyPr/>
        <a:lstStyle/>
        <a:p>
          <a:endParaRPr lang="en-US"/>
        </a:p>
      </dgm:t>
    </dgm:pt>
    <dgm:pt modelId="{C3C4D31C-9EAD-4BA7-A736-9B414A8A6B46}">
      <dgm:prSet/>
      <dgm:spPr/>
      <dgm:t>
        <a:bodyPr/>
        <a:lstStyle/>
        <a:p>
          <a:r>
            <a:rPr lang="en-US" b="0" i="0" baseline="0"/>
            <a:t>– Sosyal medya etkisiyle tetiklenen FOMO işlemleri</a:t>
          </a:r>
          <a:endParaRPr lang="en-US"/>
        </a:p>
      </dgm:t>
    </dgm:pt>
    <dgm:pt modelId="{E7D16E2A-DFDC-498B-86E2-379CA4909F3E}" type="parTrans" cxnId="{C880EC2A-C0FE-442B-8FB7-393F91743F7A}">
      <dgm:prSet/>
      <dgm:spPr/>
      <dgm:t>
        <a:bodyPr/>
        <a:lstStyle/>
        <a:p>
          <a:endParaRPr lang="en-US"/>
        </a:p>
      </dgm:t>
    </dgm:pt>
    <dgm:pt modelId="{2260CA35-81D9-4FFF-9A0A-B51CC4D74AA6}" type="sibTrans" cxnId="{C880EC2A-C0FE-442B-8FB7-393F91743F7A}">
      <dgm:prSet/>
      <dgm:spPr/>
      <dgm:t>
        <a:bodyPr/>
        <a:lstStyle/>
        <a:p>
          <a:endParaRPr lang="en-US"/>
        </a:p>
      </dgm:t>
    </dgm:pt>
    <dgm:pt modelId="{AEF236FB-BC20-4827-BB05-CEBE054841EF}">
      <dgm:prSet/>
      <dgm:spPr/>
      <dgm:t>
        <a:bodyPr/>
        <a:lstStyle/>
        <a:p>
          <a:r>
            <a:rPr lang="en-US" b="0" i="0" baseline="0"/>
            <a:t>– Kişisel risk toleransı ile uyumsuz yatırım davranışları</a:t>
          </a:r>
          <a:br>
            <a:rPr lang="en-US" b="0" i="0" baseline="0"/>
          </a:br>
          <a:endParaRPr lang="en-US"/>
        </a:p>
      </dgm:t>
    </dgm:pt>
    <dgm:pt modelId="{8AFE874C-F3FE-4B1F-B113-05F6E0408434}" type="parTrans" cxnId="{A62EC4DE-0C50-4B86-BE59-D919B085CCCB}">
      <dgm:prSet/>
      <dgm:spPr/>
      <dgm:t>
        <a:bodyPr/>
        <a:lstStyle/>
        <a:p>
          <a:endParaRPr lang="en-US"/>
        </a:p>
      </dgm:t>
    </dgm:pt>
    <dgm:pt modelId="{48706524-6690-4822-9679-FFBE24524D5F}" type="sibTrans" cxnId="{A62EC4DE-0C50-4B86-BE59-D919B085CCCB}">
      <dgm:prSet/>
      <dgm:spPr/>
      <dgm:t>
        <a:bodyPr/>
        <a:lstStyle/>
        <a:p>
          <a:endParaRPr lang="en-US"/>
        </a:p>
      </dgm:t>
    </dgm:pt>
    <dgm:pt modelId="{78CEAC57-3A2F-4691-9D83-9335BAEA8307}">
      <dgm:prSet/>
      <dgm:spPr/>
      <dgm:t>
        <a:bodyPr/>
        <a:lstStyle/>
        <a:p>
          <a:r>
            <a:rPr lang="en-US" b="1" i="0" baseline="0" dirty="0"/>
            <a:t>Banka </a:t>
          </a:r>
          <a:r>
            <a:rPr lang="en-US" b="1" i="0" baseline="0" dirty="0" err="1"/>
            <a:t>açısından</a:t>
          </a:r>
          <a:r>
            <a:rPr lang="en-US" b="1" i="0" baseline="0" dirty="0"/>
            <a:t> </a:t>
          </a:r>
          <a:r>
            <a:rPr lang="en-US" b="1" i="0" baseline="0" dirty="0" err="1"/>
            <a:t>sonuç</a:t>
          </a:r>
          <a:r>
            <a:rPr lang="en-US" b="1" i="0" baseline="0" dirty="0"/>
            <a:t>:</a:t>
          </a:r>
          <a:br>
            <a:rPr lang="en-US" b="0" i="0" baseline="0" dirty="0"/>
          </a:br>
          <a:r>
            <a:rPr lang="en-US" b="0" i="0" baseline="0" dirty="0"/>
            <a:t>– Genç </a:t>
          </a:r>
          <a:r>
            <a:rPr lang="en-US" b="0" i="0" baseline="0" dirty="0" err="1"/>
            <a:t>müşteri</a:t>
          </a:r>
          <a:r>
            <a:rPr lang="en-US" b="0" i="0" baseline="0" dirty="0"/>
            <a:t> churn ↑</a:t>
          </a:r>
          <a:br>
            <a:rPr lang="en-US" b="0" i="0" baseline="0" dirty="0"/>
          </a:br>
          <a:br>
            <a:rPr lang="en-US" b="0" i="0" baseline="0" dirty="0"/>
          </a:br>
          <a:r>
            <a:rPr lang="en-US" b="0" i="0" baseline="0" dirty="0"/>
            <a:t>– </a:t>
          </a:r>
          <a:r>
            <a:rPr lang="en-US" b="0" i="0" baseline="0" dirty="0" err="1"/>
            <a:t>Yatırımda</a:t>
          </a:r>
          <a:r>
            <a:rPr lang="en-US" b="0" i="0" baseline="0" dirty="0"/>
            <a:t> </a:t>
          </a:r>
          <a:r>
            <a:rPr lang="en-US" b="0" i="0" baseline="0" dirty="0" err="1"/>
            <a:t>kalma</a:t>
          </a:r>
          <a:r>
            <a:rPr lang="en-US" b="0" i="0" baseline="0" dirty="0"/>
            <a:t> </a:t>
          </a:r>
          <a:r>
            <a:rPr lang="en-US" b="0" i="0" baseline="0" dirty="0" err="1"/>
            <a:t>süresi</a:t>
          </a:r>
          <a:r>
            <a:rPr lang="en-US" b="0" i="0" baseline="0" dirty="0"/>
            <a:t> ↓</a:t>
          </a:r>
          <a:br>
            <a:rPr lang="en-US" b="0" i="0" baseline="0" dirty="0"/>
          </a:br>
          <a:br>
            <a:rPr lang="en-US" b="0" i="0" baseline="0" dirty="0"/>
          </a:br>
          <a:r>
            <a:rPr lang="en-US" b="0" i="0" baseline="0" dirty="0"/>
            <a:t>– Uzun </a:t>
          </a:r>
          <a:r>
            <a:rPr lang="en-US" b="0" i="0" baseline="0" dirty="0" err="1"/>
            <a:t>vadeli</a:t>
          </a:r>
          <a:r>
            <a:rPr lang="en-US" b="0" i="0" baseline="0" dirty="0"/>
            <a:t> AUM </a:t>
          </a:r>
          <a:r>
            <a:rPr lang="en-US" b="0" i="0" baseline="0" dirty="0" err="1"/>
            <a:t>büyümesi</a:t>
          </a:r>
          <a:r>
            <a:rPr lang="en-US" b="0" i="0" baseline="0" dirty="0"/>
            <a:t> </a:t>
          </a:r>
          <a:r>
            <a:rPr lang="en-US" b="0" i="0" baseline="0" dirty="0" err="1"/>
            <a:t>sınırlanır</a:t>
          </a:r>
          <a:endParaRPr lang="en-US" dirty="0"/>
        </a:p>
      </dgm:t>
    </dgm:pt>
    <dgm:pt modelId="{773BAF70-434A-4A01-9A89-9D40E9F1D90F}" type="parTrans" cxnId="{BB4729A5-6304-45DE-B9C3-FFA8A9041D28}">
      <dgm:prSet/>
      <dgm:spPr/>
      <dgm:t>
        <a:bodyPr/>
        <a:lstStyle/>
        <a:p>
          <a:endParaRPr lang="en-US"/>
        </a:p>
      </dgm:t>
    </dgm:pt>
    <dgm:pt modelId="{9B8BE40B-8398-47C5-9518-C36F5CAD131B}" type="sibTrans" cxnId="{BB4729A5-6304-45DE-B9C3-FFA8A9041D28}">
      <dgm:prSet/>
      <dgm:spPr/>
      <dgm:t>
        <a:bodyPr/>
        <a:lstStyle/>
        <a:p>
          <a:endParaRPr lang="en-US"/>
        </a:p>
      </dgm:t>
    </dgm:pt>
    <dgm:pt modelId="{1B567B49-A8A6-B349-8491-70081507FF01}" type="pres">
      <dgm:prSet presAssocID="{BEFCC601-82B1-487B-B20B-E874F41E9851}" presName="diagram" presStyleCnt="0">
        <dgm:presLayoutVars>
          <dgm:dir/>
          <dgm:resizeHandles val="exact"/>
        </dgm:presLayoutVars>
      </dgm:prSet>
      <dgm:spPr/>
    </dgm:pt>
    <dgm:pt modelId="{1221584B-5FF3-674B-99AF-6ED680F7DFE6}" type="pres">
      <dgm:prSet presAssocID="{8654905F-59A7-4A34-B432-A8EE80760ECA}" presName="node" presStyleLbl="node1" presStyleIdx="0" presStyleCnt="5">
        <dgm:presLayoutVars>
          <dgm:bulletEnabled val="1"/>
        </dgm:presLayoutVars>
      </dgm:prSet>
      <dgm:spPr/>
    </dgm:pt>
    <dgm:pt modelId="{9CE8AF91-D86D-1346-8815-0E8775F973BC}" type="pres">
      <dgm:prSet presAssocID="{05A19C3F-C6CD-48CC-AA54-664DC9F6F19D}" presName="sibTrans" presStyleCnt="0"/>
      <dgm:spPr/>
    </dgm:pt>
    <dgm:pt modelId="{84B42B6B-3CE2-3248-9A7A-31CAA7E8D693}" type="pres">
      <dgm:prSet presAssocID="{1A0AA78D-CD3C-4977-ADDE-ABF18720CEDC}" presName="node" presStyleLbl="node1" presStyleIdx="1" presStyleCnt="5">
        <dgm:presLayoutVars>
          <dgm:bulletEnabled val="1"/>
        </dgm:presLayoutVars>
      </dgm:prSet>
      <dgm:spPr/>
    </dgm:pt>
    <dgm:pt modelId="{771FE37D-2A7B-FC48-885E-07E12718CA2A}" type="pres">
      <dgm:prSet presAssocID="{10401C68-5ED9-4164-8A60-A73B9D84390E}" presName="sibTrans" presStyleCnt="0"/>
      <dgm:spPr/>
    </dgm:pt>
    <dgm:pt modelId="{A44456B1-305A-2C48-B829-1D081CD1213E}" type="pres">
      <dgm:prSet presAssocID="{C3C4D31C-9EAD-4BA7-A736-9B414A8A6B46}" presName="node" presStyleLbl="node1" presStyleIdx="2" presStyleCnt="5">
        <dgm:presLayoutVars>
          <dgm:bulletEnabled val="1"/>
        </dgm:presLayoutVars>
      </dgm:prSet>
      <dgm:spPr/>
    </dgm:pt>
    <dgm:pt modelId="{BCCF8134-1668-2843-BBEA-936EB2ACDB57}" type="pres">
      <dgm:prSet presAssocID="{2260CA35-81D9-4FFF-9A0A-B51CC4D74AA6}" presName="sibTrans" presStyleCnt="0"/>
      <dgm:spPr/>
    </dgm:pt>
    <dgm:pt modelId="{45C222F5-CBAB-2A43-94E2-90CB44B97E33}" type="pres">
      <dgm:prSet presAssocID="{AEF236FB-BC20-4827-BB05-CEBE054841EF}" presName="node" presStyleLbl="node1" presStyleIdx="3" presStyleCnt="5">
        <dgm:presLayoutVars>
          <dgm:bulletEnabled val="1"/>
        </dgm:presLayoutVars>
      </dgm:prSet>
      <dgm:spPr/>
    </dgm:pt>
    <dgm:pt modelId="{43FE0322-FC90-E944-9595-2C11D3FC8D2D}" type="pres">
      <dgm:prSet presAssocID="{48706524-6690-4822-9679-FFBE24524D5F}" presName="sibTrans" presStyleCnt="0"/>
      <dgm:spPr/>
    </dgm:pt>
    <dgm:pt modelId="{1FA5BA7A-68B6-744C-9A4E-F3580C7AE72B}" type="pres">
      <dgm:prSet presAssocID="{78CEAC57-3A2F-4691-9D83-9335BAEA8307}" presName="node" presStyleLbl="node1" presStyleIdx="4" presStyleCnt="5">
        <dgm:presLayoutVars>
          <dgm:bulletEnabled val="1"/>
        </dgm:presLayoutVars>
      </dgm:prSet>
      <dgm:spPr/>
    </dgm:pt>
  </dgm:ptLst>
  <dgm:cxnLst>
    <dgm:cxn modelId="{5255DA04-9650-BC41-B139-CA10D4324179}" type="presOf" srcId="{78CEAC57-3A2F-4691-9D83-9335BAEA8307}" destId="{1FA5BA7A-68B6-744C-9A4E-F3580C7AE72B}" srcOrd="0" destOrd="0" presId="urn:microsoft.com/office/officeart/2005/8/layout/default"/>
    <dgm:cxn modelId="{95692826-5B5B-4A28-A099-F23E01410415}" srcId="{BEFCC601-82B1-487B-B20B-E874F41E9851}" destId="{1A0AA78D-CD3C-4977-ADDE-ABF18720CEDC}" srcOrd="1" destOrd="0" parTransId="{8DECEE28-E04D-4968-9488-A59A9A2D6553}" sibTransId="{10401C68-5ED9-4164-8A60-A73B9D84390E}"/>
    <dgm:cxn modelId="{C880EC2A-C0FE-442B-8FB7-393F91743F7A}" srcId="{BEFCC601-82B1-487B-B20B-E874F41E9851}" destId="{C3C4D31C-9EAD-4BA7-A736-9B414A8A6B46}" srcOrd="2" destOrd="0" parTransId="{E7D16E2A-DFDC-498B-86E2-379CA4909F3E}" sibTransId="{2260CA35-81D9-4FFF-9A0A-B51CC4D74AA6}"/>
    <dgm:cxn modelId="{86E8F72B-47E0-3945-B692-84C5D7A03191}" type="presOf" srcId="{1A0AA78D-CD3C-4977-ADDE-ABF18720CEDC}" destId="{84B42B6B-3CE2-3248-9A7A-31CAA7E8D693}" srcOrd="0" destOrd="0" presId="urn:microsoft.com/office/officeart/2005/8/layout/default"/>
    <dgm:cxn modelId="{0EB78284-37B6-3741-B387-F3C54D436675}" type="presOf" srcId="{AEF236FB-BC20-4827-BB05-CEBE054841EF}" destId="{45C222F5-CBAB-2A43-94E2-90CB44B97E33}" srcOrd="0" destOrd="0" presId="urn:microsoft.com/office/officeart/2005/8/layout/default"/>
    <dgm:cxn modelId="{67272AA4-12B9-CA4D-9BA2-2BD11A94CB26}" type="presOf" srcId="{8654905F-59A7-4A34-B432-A8EE80760ECA}" destId="{1221584B-5FF3-674B-99AF-6ED680F7DFE6}" srcOrd="0" destOrd="0" presId="urn:microsoft.com/office/officeart/2005/8/layout/default"/>
    <dgm:cxn modelId="{BB4729A5-6304-45DE-B9C3-FFA8A9041D28}" srcId="{BEFCC601-82B1-487B-B20B-E874F41E9851}" destId="{78CEAC57-3A2F-4691-9D83-9335BAEA8307}" srcOrd="4" destOrd="0" parTransId="{773BAF70-434A-4A01-9A89-9D40E9F1D90F}" sibTransId="{9B8BE40B-8398-47C5-9518-C36F5CAD131B}"/>
    <dgm:cxn modelId="{6DF63DB0-A11F-4790-B1CE-35A8BBAB3320}" srcId="{BEFCC601-82B1-487B-B20B-E874F41E9851}" destId="{8654905F-59A7-4A34-B432-A8EE80760ECA}" srcOrd="0" destOrd="0" parTransId="{B7071AB0-1203-4F06-9B45-89A77BC9550C}" sibTransId="{05A19C3F-C6CD-48CC-AA54-664DC9F6F19D}"/>
    <dgm:cxn modelId="{78D209B1-72F4-9A42-83F2-60EA309AC09F}" type="presOf" srcId="{BEFCC601-82B1-487B-B20B-E874F41E9851}" destId="{1B567B49-A8A6-B349-8491-70081507FF01}" srcOrd="0" destOrd="0" presId="urn:microsoft.com/office/officeart/2005/8/layout/default"/>
    <dgm:cxn modelId="{F416A2D3-BAB2-DB41-9BA3-EE522DADBDFB}" type="presOf" srcId="{C3C4D31C-9EAD-4BA7-A736-9B414A8A6B46}" destId="{A44456B1-305A-2C48-B829-1D081CD1213E}" srcOrd="0" destOrd="0" presId="urn:microsoft.com/office/officeart/2005/8/layout/default"/>
    <dgm:cxn modelId="{A62EC4DE-0C50-4B86-BE59-D919B085CCCB}" srcId="{BEFCC601-82B1-487B-B20B-E874F41E9851}" destId="{AEF236FB-BC20-4827-BB05-CEBE054841EF}" srcOrd="3" destOrd="0" parTransId="{8AFE874C-F3FE-4B1F-B113-05F6E0408434}" sibTransId="{48706524-6690-4822-9679-FFBE24524D5F}"/>
    <dgm:cxn modelId="{AA3963D8-2045-C542-8E39-C9025B53305C}" type="presParOf" srcId="{1B567B49-A8A6-B349-8491-70081507FF01}" destId="{1221584B-5FF3-674B-99AF-6ED680F7DFE6}" srcOrd="0" destOrd="0" presId="urn:microsoft.com/office/officeart/2005/8/layout/default"/>
    <dgm:cxn modelId="{2477FB03-0BED-6E46-9F88-557C57543180}" type="presParOf" srcId="{1B567B49-A8A6-B349-8491-70081507FF01}" destId="{9CE8AF91-D86D-1346-8815-0E8775F973BC}" srcOrd="1" destOrd="0" presId="urn:microsoft.com/office/officeart/2005/8/layout/default"/>
    <dgm:cxn modelId="{62AF4800-19C6-5C46-8C22-80529B04A9E4}" type="presParOf" srcId="{1B567B49-A8A6-B349-8491-70081507FF01}" destId="{84B42B6B-3CE2-3248-9A7A-31CAA7E8D693}" srcOrd="2" destOrd="0" presId="urn:microsoft.com/office/officeart/2005/8/layout/default"/>
    <dgm:cxn modelId="{7150A126-0479-A140-A7AE-42A8C983CDF6}" type="presParOf" srcId="{1B567B49-A8A6-B349-8491-70081507FF01}" destId="{771FE37D-2A7B-FC48-885E-07E12718CA2A}" srcOrd="3" destOrd="0" presId="urn:microsoft.com/office/officeart/2005/8/layout/default"/>
    <dgm:cxn modelId="{FDCCF72B-6A44-7A44-8CBE-C51E096F7067}" type="presParOf" srcId="{1B567B49-A8A6-B349-8491-70081507FF01}" destId="{A44456B1-305A-2C48-B829-1D081CD1213E}" srcOrd="4" destOrd="0" presId="urn:microsoft.com/office/officeart/2005/8/layout/default"/>
    <dgm:cxn modelId="{87DE76EB-9247-BE46-A675-B6C9167C7FB6}" type="presParOf" srcId="{1B567B49-A8A6-B349-8491-70081507FF01}" destId="{BCCF8134-1668-2843-BBEA-936EB2ACDB57}" srcOrd="5" destOrd="0" presId="urn:microsoft.com/office/officeart/2005/8/layout/default"/>
    <dgm:cxn modelId="{B0CC6C34-0CEC-AC4B-A661-49467400284B}" type="presParOf" srcId="{1B567B49-A8A6-B349-8491-70081507FF01}" destId="{45C222F5-CBAB-2A43-94E2-90CB44B97E33}" srcOrd="6" destOrd="0" presId="urn:microsoft.com/office/officeart/2005/8/layout/default"/>
    <dgm:cxn modelId="{180CD116-0324-464F-86F6-2663D5915D84}" type="presParOf" srcId="{1B567B49-A8A6-B349-8491-70081507FF01}" destId="{43FE0322-FC90-E944-9595-2C11D3FC8D2D}" srcOrd="7" destOrd="0" presId="urn:microsoft.com/office/officeart/2005/8/layout/default"/>
    <dgm:cxn modelId="{253AC05B-827B-F241-ABEC-E884608802F9}" type="presParOf" srcId="{1B567B49-A8A6-B349-8491-70081507FF01}" destId="{1FA5BA7A-68B6-744C-9A4E-F3580C7AE72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DB45DC-70E3-44FB-9F47-C5DF988A84E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FB6846-2408-49D6-9E9A-9DB6019F5DF8}">
      <dgm:prSet/>
      <dgm:spPr/>
      <dgm:t>
        <a:bodyPr/>
        <a:lstStyle/>
        <a:p>
          <a:r>
            <a:rPr lang="en-US" b="1" i="0" baseline="0"/>
            <a:t>Yatırım davranışı check-in’i</a:t>
          </a:r>
          <a:br>
            <a:rPr lang="en-US" b="0" i="0" baseline="0"/>
          </a:br>
          <a:r>
            <a:rPr lang="en-US" b="0" i="1" baseline="0"/>
            <a:t>(kısa senaryolar ile karar refleksleri ölçülür)</a:t>
          </a:r>
          <a:endParaRPr lang="en-US"/>
        </a:p>
      </dgm:t>
    </dgm:pt>
    <dgm:pt modelId="{E00DB74C-3DD5-423F-9DC6-915AAFEEB26D}" type="parTrans" cxnId="{DCE98E66-9603-4F8B-AEF8-CFB2DF3DA6C7}">
      <dgm:prSet/>
      <dgm:spPr/>
      <dgm:t>
        <a:bodyPr/>
        <a:lstStyle/>
        <a:p>
          <a:endParaRPr lang="en-US"/>
        </a:p>
      </dgm:t>
    </dgm:pt>
    <dgm:pt modelId="{BDDFE08F-18CB-434E-A0AF-2BF7A204AA80}" type="sibTrans" cxnId="{DCE98E66-9603-4F8B-AEF8-CFB2DF3DA6C7}">
      <dgm:prSet/>
      <dgm:spPr/>
      <dgm:t>
        <a:bodyPr/>
        <a:lstStyle/>
        <a:p>
          <a:endParaRPr lang="en-US"/>
        </a:p>
      </dgm:t>
    </dgm:pt>
    <dgm:pt modelId="{D1948C59-72E4-4426-8EE8-B4920151B9CD}">
      <dgm:prSet/>
      <dgm:spPr/>
      <dgm:t>
        <a:bodyPr/>
        <a:lstStyle/>
        <a:p>
          <a:r>
            <a:rPr lang="en-US" b="1" i="0" baseline="0"/>
            <a:t>Volatilite ve sosyal tetik senaryoları</a:t>
          </a:r>
          <a:br>
            <a:rPr lang="en-US" b="0" i="0" baseline="0"/>
          </a:br>
          <a:r>
            <a:rPr lang="en-US" b="0" i="1" baseline="0"/>
            <a:t>(kayıp, hızlı yükseliş, trend etkisi)</a:t>
          </a:r>
          <a:endParaRPr lang="en-US"/>
        </a:p>
      </dgm:t>
    </dgm:pt>
    <dgm:pt modelId="{8B0CCD37-9D22-42B3-9B8E-FAF78729C08B}" type="parTrans" cxnId="{848AC116-7CFE-4117-903F-5B2D0C25CE39}">
      <dgm:prSet/>
      <dgm:spPr/>
      <dgm:t>
        <a:bodyPr/>
        <a:lstStyle/>
        <a:p>
          <a:endParaRPr lang="en-US"/>
        </a:p>
      </dgm:t>
    </dgm:pt>
    <dgm:pt modelId="{4ED3CBAB-3136-45DC-8B6C-B9E8353EA898}" type="sibTrans" cxnId="{848AC116-7CFE-4117-903F-5B2D0C25CE39}">
      <dgm:prSet/>
      <dgm:spPr/>
      <dgm:t>
        <a:bodyPr/>
        <a:lstStyle/>
        <a:p>
          <a:endParaRPr lang="en-US"/>
        </a:p>
      </dgm:t>
    </dgm:pt>
    <dgm:pt modelId="{0324F1F8-F45D-4F55-BC37-48EED0F401EE}">
      <dgm:prSet/>
      <dgm:spPr/>
      <dgm:t>
        <a:bodyPr/>
        <a:lstStyle/>
        <a:p>
          <a:r>
            <a:rPr lang="en-US" b="1" i="0" baseline="0"/>
            <a:t>Davranışsal risk göstergeleri</a:t>
          </a:r>
          <a:br>
            <a:rPr lang="en-US" b="0" i="0" baseline="0"/>
          </a:br>
          <a:r>
            <a:rPr lang="en-US" b="0" i="1" baseline="0"/>
            <a:t>(risk toleransı, karar hızı, işlem tutarlılığı)</a:t>
          </a:r>
          <a:endParaRPr lang="en-US"/>
        </a:p>
      </dgm:t>
    </dgm:pt>
    <dgm:pt modelId="{1C46A9BD-52E3-4E3F-A98E-77EF4B21847E}" type="parTrans" cxnId="{A24E1D0C-C5C4-465B-BE19-D43BB0D3C3DC}">
      <dgm:prSet/>
      <dgm:spPr/>
      <dgm:t>
        <a:bodyPr/>
        <a:lstStyle/>
        <a:p>
          <a:endParaRPr lang="en-US"/>
        </a:p>
      </dgm:t>
    </dgm:pt>
    <dgm:pt modelId="{52C2F454-FE87-433C-98FC-34C0B304A7CD}" type="sibTrans" cxnId="{A24E1D0C-C5C4-465B-BE19-D43BB0D3C3DC}">
      <dgm:prSet/>
      <dgm:spPr/>
      <dgm:t>
        <a:bodyPr/>
        <a:lstStyle/>
        <a:p>
          <a:endParaRPr lang="en-US"/>
        </a:p>
      </dgm:t>
    </dgm:pt>
    <dgm:pt modelId="{35BC4FFB-D3B4-474D-9159-5DC4CD5CE9E7}">
      <dgm:prSet/>
      <dgm:spPr/>
      <dgm:t>
        <a:bodyPr/>
        <a:lstStyle/>
        <a:p>
          <a:r>
            <a:rPr lang="en-US" b="1" i="0" baseline="0" dirty="0" err="1"/>
            <a:t>Davranışsal</a:t>
          </a:r>
          <a:r>
            <a:rPr lang="en-US" b="1" i="0" baseline="0" dirty="0"/>
            <a:t> </a:t>
          </a:r>
          <a:r>
            <a:rPr lang="en-US" b="1" i="0" baseline="0" dirty="0" err="1"/>
            <a:t>karar</a:t>
          </a:r>
          <a:r>
            <a:rPr lang="en-US" b="1" i="0" baseline="0" dirty="0"/>
            <a:t> </a:t>
          </a:r>
          <a:r>
            <a:rPr lang="en-US" b="1" i="0" baseline="0" dirty="0" err="1"/>
            <a:t>riski</a:t>
          </a:r>
          <a:r>
            <a:rPr lang="en-US" b="1" i="0" baseline="0" dirty="0"/>
            <a:t> </a:t>
          </a:r>
          <a:r>
            <a:rPr lang="en-US" b="0" i="0" u="none" dirty="0"/>
            <a:t>(</a:t>
          </a:r>
          <a:r>
            <a:rPr lang="en-US" b="0" i="0" u="none" dirty="0" err="1"/>
            <a:t>acelecilik</a:t>
          </a:r>
          <a:r>
            <a:rPr lang="en-US" b="0" i="0" u="none" dirty="0"/>
            <a:t>, plan </a:t>
          </a:r>
          <a:r>
            <a:rPr lang="en-US" b="0" i="0" u="none" dirty="0" err="1"/>
            <a:t>dışı</a:t>
          </a:r>
          <a:r>
            <a:rPr lang="en-US" b="0" i="0" u="none" dirty="0"/>
            <a:t> </a:t>
          </a:r>
          <a:r>
            <a:rPr lang="en-US" b="0" i="0" u="none" dirty="0" err="1"/>
            <a:t>aksiyon</a:t>
          </a:r>
          <a:r>
            <a:rPr lang="en-US" b="0" i="0" u="none" dirty="0"/>
            <a:t> </a:t>
          </a:r>
          <a:r>
            <a:rPr lang="en-US" b="0" i="0" u="none" dirty="0" err="1"/>
            <a:t>eğilimi</a:t>
          </a:r>
          <a:r>
            <a:rPr lang="en-US" b="0" i="0" u="none" dirty="0"/>
            <a:t>, </a:t>
          </a:r>
          <a:r>
            <a:rPr lang="en-US" b="0" i="0" u="none" dirty="0" err="1"/>
            <a:t>tutarsızlık</a:t>
          </a:r>
          <a:r>
            <a:rPr lang="en-US" b="0" i="0" u="none" dirty="0"/>
            <a:t>)</a:t>
          </a:r>
          <a:endParaRPr lang="en-US" dirty="0"/>
        </a:p>
      </dgm:t>
    </dgm:pt>
    <dgm:pt modelId="{DEBC46DD-52D4-4535-9069-A220CD5118BF}" type="parTrans" cxnId="{0D3B987E-B2C2-4DF2-A631-5DD84CD86A2F}">
      <dgm:prSet/>
      <dgm:spPr/>
      <dgm:t>
        <a:bodyPr/>
        <a:lstStyle/>
        <a:p>
          <a:endParaRPr lang="en-US"/>
        </a:p>
      </dgm:t>
    </dgm:pt>
    <dgm:pt modelId="{832CDB63-7383-4443-AE59-81366FA89C5D}" type="sibTrans" cxnId="{0D3B987E-B2C2-4DF2-A631-5DD84CD86A2F}">
      <dgm:prSet/>
      <dgm:spPr/>
      <dgm:t>
        <a:bodyPr/>
        <a:lstStyle/>
        <a:p>
          <a:endParaRPr lang="en-US"/>
        </a:p>
      </dgm:t>
    </dgm:pt>
    <dgm:pt modelId="{A2661B64-54AA-5F44-8ECD-7E663CDD0A6D}" type="pres">
      <dgm:prSet presAssocID="{B5DB45DC-70E3-44FB-9F47-C5DF988A84E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9B88E3-84CB-6B45-9661-05C0974BA51B}" type="pres">
      <dgm:prSet presAssocID="{C2FB6846-2408-49D6-9E9A-9DB6019F5DF8}" presName="hierRoot1" presStyleCnt="0"/>
      <dgm:spPr/>
    </dgm:pt>
    <dgm:pt modelId="{16C5B6D4-B4D7-FD4A-9B3B-0D785209FB28}" type="pres">
      <dgm:prSet presAssocID="{C2FB6846-2408-49D6-9E9A-9DB6019F5DF8}" presName="composite" presStyleCnt="0"/>
      <dgm:spPr/>
    </dgm:pt>
    <dgm:pt modelId="{69E1CD2A-6656-A949-99A2-25F8CA82A691}" type="pres">
      <dgm:prSet presAssocID="{C2FB6846-2408-49D6-9E9A-9DB6019F5DF8}" presName="background" presStyleLbl="node0" presStyleIdx="0" presStyleCnt="4"/>
      <dgm:spPr/>
    </dgm:pt>
    <dgm:pt modelId="{B11A8B6F-1F39-704D-A68D-80FF344E488C}" type="pres">
      <dgm:prSet presAssocID="{C2FB6846-2408-49D6-9E9A-9DB6019F5DF8}" presName="text" presStyleLbl="fgAcc0" presStyleIdx="0" presStyleCnt="4">
        <dgm:presLayoutVars>
          <dgm:chPref val="3"/>
        </dgm:presLayoutVars>
      </dgm:prSet>
      <dgm:spPr/>
    </dgm:pt>
    <dgm:pt modelId="{2D10CF89-A9F7-0C45-BE4C-651A67002BF0}" type="pres">
      <dgm:prSet presAssocID="{C2FB6846-2408-49D6-9E9A-9DB6019F5DF8}" presName="hierChild2" presStyleCnt="0"/>
      <dgm:spPr/>
    </dgm:pt>
    <dgm:pt modelId="{603F310F-09C8-054A-8AF4-5289C2C4CDAC}" type="pres">
      <dgm:prSet presAssocID="{D1948C59-72E4-4426-8EE8-B4920151B9CD}" presName="hierRoot1" presStyleCnt="0"/>
      <dgm:spPr/>
    </dgm:pt>
    <dgm:pt modelId="{8A3C4C99-900D-594F-ADEC-D40FF03F20B0}" type="pres">
      <dgm:prSet presAssocID="{D1948C59-72E4-4426-8EE8-B4920151B9CD}" presName="composite" presStyleCnt="0"/>
      <dgm:spPr/>
    </dgm:pt>
    <dgm:pt modelId="{B4A1519C-E4E4-2047-AA49-AC46E5DF77DC}" type="pres">
      <dgm:prSet presAssocID="{D1948C59-72E4-4426-8EE8-B4920151B9CD}" presName="background" presStyleLbl="node0" presStyleIdx="1" presStyleCnt="4"/>
      <dgm:spPr/>
    </dgm:pt>
    <dgm:pt modelId="{149D6982-3CFA-144E-8F4C-98353A272502}" type="pres">
      <dgm:prSet presAssocID="{D1948C59-72E4-4426-8EE8-B4920151B9CD}" presName="text" presStyleLbl="fgAcc0" presStyleIdx="1" presStyleCnt="4">
        <dgm:presLayoutVars>
          <dgm:chPref val="3"/>
        </dgm:presLayoutVars>
      </dgm:prSet>
      <dgm:spPr/>
    </dgm:pt>
    <dgm:pt modelId="{E23BDF0E-7538-DE47-B9B8-B085FD5890A3}" type="pres">
      <dgm:prSet presAssocID="{D1948C59-72E4-4426-8EE8-B4920151B9CD}" presName="hierChild2" presStyleCnt="0"/>
      <dgm:spPr/>
    </dgm:pt>
    <dgm:pt modelId="{E60BC87A-40FA-644E-ADD8-BEE14834A33E}" type="pres">
      <dgm:prSet presAssocID="{0324F1F8-F45D-4F55-BC37-48EED0F401EE}" presName="hierRoot1" presStyleCnt="0"/>
      <dgm:spPr/>
    </dgm:pt>
    <dgm:pt modelId="{3D07398D-4F4F-B442-A7B6-ED4739EB0003}" type="pres">
      <dgm:prSet presAssocID="{0324F1F8-F45D-4F55-BC37-48EED0F401EE}" presName="composite" presStyleCnt="0"/>
      <dgm:spPr/>
    </dgm:pt>
    <dgm:pt modelId="{1387A9D1-0A87-CD48-AB07-48B9ED3715D5}" type="pres">
      <dgm:prSet presAssocID="{0324F1F8-F45D-4F55-BC37-48EED0F401EE}" presName="background" presStyleLbl="node0" presStyleIdx="2" presStyleCnt="4"/>
      <dgm:spPr/>
    </dgm:pt>
    <dgm:pt modelId="{8D50773B-A72F-6940-B3A1-736F7BA7C048}" type="pres">
      <dgm:prSet presAssocID="{0324F1F8-F45D-4F55-BC37-48EED0F401EE}" presName="text" presStyleLbl="fgAcc0" presStyleIdx="2" presStyleCnt="4">
        <dgm:presLayoutVars>
          <dgm:chPref val="3"/>
        </dgm:presLayoutVars>
      </dgm:prSet>
      <dgm:spPr/>
    </dgm:pt>
    <dgm:pt modelId="{A482A18A-E5EB-5842-BD8F-1D3AE7E54D56}" type="pres">
      <dgm:prSet presAssocID="{0324F1F8-F45D-4F55-BC37-48EED0F401EE}" presName="hierChild2" presStyleCnt="0"/>
      <dgm:spPr/>
    </dgm:pt>
    <dgm:pt modelId="{91815838-D665-4D42-A376-8EA6E91C33E7}" type="pres">
      <dgm:prSet presAssocID="{35BC4FFB-D3B4-474D-9159-5DC4CD5CE9E7}" presName="hierRoot1" presStyleCnt="0"/>
      <dgm:spPr/>
    </dgm:pt>
    <dgm:pt modelId="{1E0D9E8A-AAAC-044D-866D-FDE641EF246A}" type="pres">
      <dgm:prSet presAssocID="{35BC4FFB-D3B4-474D-9159-5DC4CD5CE9E7}" presName="composite" presStyleCnt="0"/>
      <dgm:spPr/>
    </dgm:pt>
    <dgm:pt modelId="{7D38B087-CF49-944C-8930-948E165C77A1}" type="pres">
      <dgm:prSet presAssocID="{35BC4FFB-D3B4-474D-9159-5DC4CD5CE9E7}" presName="background" presStyleLbl="node0" presStyleIdx="3" presStyleCnt="4"/>
      <dgm:spPr/>
    </dgm:pt>
    <dgm:pt modelId="{701F412C-A5A0-6043-B271-3F5DEAC1448D}" type="pres">
      <dgm:prSet presAssocID="{35BC4FFB-D3B4-474D-9159-5DC4CD5CE9E7}" presName="text" presStyleLbl="fgAcc0" presStyleIdx="3" presStyleCnt="4">
        <dgm:presLayoutVars>
          <dgm:chPref val="3"/>
        </dgm:presLayoutVars>
      </dgm:prSet>
      <dgm:spPr/>
    </dgm:pt>
    <dgm:pt modelId="{67DE0A6D-88FE-D74F-80BC-B23A9C2BAEF2}" type="pres">
      <dgm:prSet presAssocID="{35BC4FFB-D3B4-474D-9159-5DC4CD5CE9E7}" presName="hierChild2" presStyleCnt="0"/>
      <dgm:spPr/>
    </dgm:pt>
  </dgm:ptLst>
  <dgm:cxnLst>
    <dgm:cxn modelId="{F086C608-B2A4-0E49-AB6E-B4647F563EAC}" type="presOf" srcId="{C2FB6846-2408-49D6-9E9A-9DB6019F5DF8}" destId="{B11A8B6F-1F39-704D-A68D-80FF344E488C}" srcOrd="0" destOrd="0" presId="urn:microsoft.com/office/officeart/2005/8/layout/hierarchy1"/>
    <dgm:cxn modelId="{A24E1D0C-C5C4-465B-BE19-D43BB0D3C3DC}" srcId="{B5DB45DC-70E3-44FB-9F47-C5DF988A84E9}" destId="{0324F1F8-F45D-4F55-BC37-48EED0F401EE}" srcOrd="2" destOrd="0" parTransId="{1C46A9BD-52E3-4E3F-A98E-77EF4B21847E}" sibTransId="{52C2F454-FE87-433C-98FC-34C0B304A7CD}"/>
    <dgm:cxn modelId="{848AC116-7CFE-4117-903F-5B2D0C25CE39}" srcId="{B5DB45DC-70E3-44FB-9F47-C5DF988A84E9}" destId="{D1948C59-72E4-4426-8EE8-B4920151B9CD}" srcOrd="1" destOrd="0" parTransId="{8B0CCD37-9D22-42B3-9B8E-FAF78729C08B}" sibTransId="{4ED3CBAB-3136-45DC-8B6C-B9E8353EA898}"/>
    <dgm:cxn modelId="{7D67C02F-0500-7247-A342-C3C266D60262}" type="presOf" srcId="{0324F1F8-F45D-4F55-BC37-48EED0F401EE}" destId="{8D50773B-A72F-6940-B3A1-736F7BA7C048}" srcOrd="0" destOrd="0" presId="urn:microsoft.com/office/officeart/2005/8/layout/hierarchy1"/>
    <dgm:cxn modelId="{DC68213B-0EE3-6E47-B554-5667A042E470}" type="presOf" srcId="{B5DB45DC-70E3-44FB-9F47-C5DF988A84E9}" destId="{A2661B64-54AA-5F44-8ECD-7E663CDD0A6D}" srcOrd="0" destOrd="0" presId="urn:microsoft.com/office/officeart/2005/8/layout/hierarchy1"/>
    <dgm:cxn modelId="{6B5EA841-AD7D-F245-99E7-0D9D368DE4DF}" type="presOf" srcId="{D1948C59-72E4-4426-8EE8-B4920151B9CD}" destId="{149D6982-3CFA-144E-8F4C-98353A272502}" srcOrd="0" destOrd="0" presId="urn:microsoft.com/office/officeart/2005/8/layout/hierarchy1"/>
    <dgm:cxn modelId="{EC8BB24A-E208-AD4C-8046-5D5739A8B271}" type="presOf" srcId="{35BC4FFB-D3B4-474D-9159-5DC4CD5CE9E7}" destId="{701F412C-A5A0-6043-B271-3F5DEAC1448D}" srcOrd="0" destOrd="0" presId="urn:microsoft.com/office/officeart/2005/8/layout/hierarchy1"/>
    <dgm:cxn modelId="{DCE98E66-9603-4F8B-AEF8-CFB2DF3DA6C7}" srcId="{B5DB45DC-70E3-44FB-9F47-C5DF988A84E9}" destId="{C2FB6846-2408-49D6-9E9A-9DB6019F5DF8}" srcOrd="0" destOrd="0" parTransId="{E00DB74C-3DD5-423F-9DC6-915AAFEEB26D}" sibTransId="{BDDFE08F-18CB-434E-A0AF-2BF7A204AA80}"/>
    <dgm:cxn modelId="{0D3B987E-B2C2-4DF2-A631-5DD84CD86A2F}" srcId="{B5DB45DC-70E3-44FB-9F47-C5DF988A84E9}" destId="{35BC4FFB-D3B4-474D-9159-5DC4CD5CE9E7}" srcOrd="3" destOrd="0" parTransId="{DEBC46DD-52D4-4535-9069-A220CD5118BF}" sibTransId="{832CDB63-7383-4443-AE59-81366FA89C5D}"/>
    <dgm:cxn modelId="{A65953E0-242D-3B4E-9FBC-AED7FBE5F863}" type="presParOf" srcId="{A2661B64-54AA-5F44-8ECD-7E663CDD0A6D}" destId="{639B88E3-84CB-6B45-9661-05C0974BA51B}" srcOrd="0" destOrd="0" presId="urn:microsoft.com/office/officeart/2005/8/layout/hierarchy1"/>
    <dgm:cxn modelId="{CDF1E7E7-61C8-FA44-93F8-4DC07C84BDAC}" type="presParOf" srcId="{639B88E3-84CB-6B45-9661-05C0974BA51B}" destId="{16C5B6D4-B4D7-FD4A-9B3B-0D785209FB28}" srcOrd="0" destOrd="0" presId="urn:microsoft.com/office/officeart/2005/8/layout/hierarchy1"/>
    <dgm:cxn modelId="{A4E31F43-57D5-5641-BDA4-352843E974A4}" type="presParOf" srcId="{16C5B6D4-B4D7-FD4A-9B3B-0D785209FB28}" destId="{69E1CD2A-6656-A949-99A2-25F8CA82A691}" srcOrd="0" destOrd="0" presId="urn:microsoft.com/office/officeart/2005/8/layout/hierarchy1"/>
    <dgm:cxn modelId="{DC456590-39B4-4A48-B84E-17F1AE5B84C9}" type="presParOf" srcId="{16C5B6D4-B4D7-FD4A-9B3B-0D785209FB28}" destId="{B11A8B6F-1F39-704D-A68D-80FF344E488C}" srcOrd="1" destOrd="0" presId="urn:microsoft.com/office/officeart/2005/8/layout/hierarchy1"/>
    <dgm:cxn modelId="{3D0644E2-AD71-D449-BF81-902D8397E572}" type="presParOf" srcId="{639B88E3-84CB-6B45-9661-05C0974BA51B}" destId="{2D10CF89-A9F7-0C45-BE4C-651A67002BF0}" srcOrd="1" destOrd="0" presId="urn:microsoft.com/office/officeart/2005/8/layout/hierarchy1"/>
    <dgm:cxn modelId="{2AE748BD-11F0-C84C-B539-42987E532857}" type="presParOf" srcId="{A2661B64-54AA-5F44-8ECD-7E663CDD0A6D}" destId="{603F310F-09C8-054A-8AF4-5289C2C4CDAC}" srcOrd="1" destOrd="0" presId="urn:microsoft.com/office/officeart/2005/8/layout/hierarchy1"/>
    <dgm:cxn modelId="{AF004401-7689-734A-B488-531D4CB85CF3}" type="presParOf" srcId="{603F310F-09C8-054A-8AF4-5289C2C4CDAC}" destId="{8A3C4C99-900D-594F-ADEC-D40FF03F20B0}" srcOrd="0" destOrd="0" presId="urn:microsoft.com/office/officeart/2005/8/layout/hierarchy1"/>
    <dgm:cxn modelId="{3211202B-8A7D-2A4C-A342-CEB09BCFA30D}" type="presParOf" srcId="{8A3C4C99-900D-594F-ADEC-D40FF03F20B0}" destId="{B4A1519C-E4E4-2047-AA49-AC46E5DF77DC}" srcOrd="0" destOrd="0" presId="urn:microsoft.com/office/officeart/2005/8/layout/hierarchy1"/>
    <dgm:cxn modelId="{23F6C489-B0CF-3948-B4F9-21D98E98BE7F}" type="presParOf" srcId="{8A3C4C99-900D-594F-ADEC-D40FF03F20B0}" destId="{149D6982-3CFA-144E-8F4C-98353A272502}" srcOrd="1" destOrd="0" presId="urn:microsoft.com/office/officeart/2005/8/layout/hierarchy1"/>
    <dgm:cxn modelId="{8B0079FA-6609-A645-93F9-8B2C323168AA}" type="presParOf" srcId="{603F310F-09C8-054A-8AF4-5289C2C4CDAC}" destId="{E23BDF0E-7538-DE47-B9B8-B085FD5890A3}" srcOrd="1" destOrd="0" presId="urn:microsoft.com/office/officeart/2005/8/layout/hierarchy1"/>
    <dgm:cxn modelId="{1EC8187C-8F3F-EF42-BC37-14884D841CBA}" type="presParOf" srcId="{A2661B64-54AA-5F44-8ECD-7E663CDD0A6D}" destId="{E60BC87A-40FA-644E-ADD8-BEE14834A33E}" srcOrd="2" destOrd="0" presId="urn:microsoft.com/office/officeart/2005/8/layout/hierarchy1"/>
    <dgm:cxn modelId="{302AD267-1EBA-B949-8579-323855E1A48A}" type="presParOf" srcId="{E60BC87A-40FA-644E-ADD8-BEE14834A33E}" destId="{3D07398D-4F4F-B442-A7B6-ED4739EB0003}" srcOrd="0" destOrd="0" presId="urn:microsoft.com/office/officeart/2005/8/layout/hierarchy1"/>
    <dgm:cxn modelId="{281C920D-0AAE-094C-9372-86C4F681E4DC}" type="presParOf" srcId="{3D07398D-4F4F-B442-A7B6-ED4739EB0003}" destId="{1387A9D1-0A87-CD48-AB07-48B9ED3715D5}" srcOrd="0" destOrd="0" presId="urn:microsoft.com/office/officeart/2005/8/layout/hierarchy1"/>
    <dgm:cxn modelId="{F61D0759-627C-3244-8C48-60F85EFAD6A2}" type="presParOf" srcId="{3D07398D-4F4F-B442-A7B6-ED4739EB0003}" destId="{8D50773B-A72F-6940-B3A1-736F7BA7C048}" srcOrd="1" destOrd="0" presId="urn:microsoft.com/office/officeart/2005/8/layout/hierarchy1"/>
    <dgm:cxn modelId="{5BC4E3A4-3E7E-7443-8A68-FA8FB3B9C7EE}" type="presParOf" srcId="{E60BC87A-40FA-644E-ADD8-BEE14834A33E}" destId="{A482A18A-E5EB-5842-BD8F-1D3AE7E54D56}" srcOrd="1" destOrd="0" presId="urn:microsoft.com/office/officeart/2005/8/layout/hierarchy1"/>
    <dgm:cxn modelId="{0D691FE9-5163-094F-83D0-8BDBF4E09DD4}" type="presParOf" srcId="{A2661B64-54AA-5F44-8ECD-7E663CDD0A6D}" destId="{91815838-D665-4D42-A376-8EA6E91C33E7}" srcOrd="3" destOrd="0" presId="urn:microsoft.com/office/officeart/2005/8/layout/hierarchy1"/>
    <dgm:cxn modelId="{F1FF123D-7F63-784C-ABF7-C092A46E8941}" type="presParOf" srcId="{91815838-D665-4D42-A376-8EA6E91C33E7}" destId="{1E0D9E8A-AAAC-044D-866D-FDE641EF246A}" srcOrd="0" destOrd="0" presId="urn:microsoft.com/office/officeart/2005/8/layout/hierarchy1"/>
    <dgm:cxn modelId="{A326CB20-94A4-614B-A844-464500EA65EE}" type="presParOf" srcId="{1E0D9E8A-AAAC-044D-866D-FDE641EF246A}" destId="{7D38B087-CF49-944C-8930-948E165C77A1}" srcOrd="0" destOrd="0" presId="urn:microsoft.com/office/officeart/2005/8/layout/hierarchy1"/>
    <dgm:cxn modelId="{C8823B2C-0EFA-4448-B1ED-E401F980ADD8}" type="presParOf" srcId="{1E0D9E8A-AAAC-044D-866D-FDE641EF246A}" destId="{701F412C-A5A0-6043-B271-3F5DEAC1448D}" srcOrd="1" destOrd="0" presId="urn:microsoft.com/office/officeart/2005/8/layout/hierarchy1"/>
    <dgm:cxn modelId="{0FF228EE-D863-CF49-824B-8D4557938CE2}" type="presParOf" srcId="{91815838-D665-4D42-A376-8EA6E91C33E7}" destId="{67DE0A6D-88FE-D74F-80BC-B23A9C2BAEF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1862B2-3E98-42B1-804C-BA64E0B9849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7213D4-3D2D-4FBE-AFF3-71851749D9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• Mobil yatırım ekranı içinde </a:t>
          </a:r>
          <a:r>
            <a:rPr lang="en-US" b="1" i="0" baseline="0"/>
            <a:t>60–90 sn’lik akış</a:t>
          </a:r>
          <a:br>
            <a:rPr lang="en-US" b="0" i="0" baseline="0"/>
          </a:br>
          <a:r>
            <a:rPr lang="en-US" b="0" i="0" baseline="0"/>
            <a:t>• Mikro yatırım senaryoları ile </a:t>
          </a:r>
          <a:r>
            <a:rPr lang="en-US" b="1" i="0" baseline="0"/>
            <a:t>karar refleksi ölçümü</a:t>
          </a:r>
          <a:br>
            <a:rPr lang="en-US" b="0" i="0" baseline="0"/>
          </a:br>
          <a:r>
            <a:rPr lang="en-US" b="0" i="0" baseline="0"/>
            <a:t>• Sonuçlar </a:t>
          </a:r>
          <a:r>
            <a:rPr lang="en-US" b="1" i="0" baseline="0"/>
            <a:t>anında ve açıklanabilir şekilde</a:t>
          </a:r>
          <a:r>
            <a:rPr lang="en-US" b="0" i="0" baseline="0"/>
            <a:t> sunulur</a:t>
          </a:r>
          <a:br>
            <a:rPr lang="en-US" b="0" i="0" baseline="0"/>
          </a:br>
          <a:endParaRPr lang="en-US"/>
        </a:p>
      </dgm:t>
    </dgm:pt>
    <dgm:pt modelId="{822AC995-6218-490C-A2EF-52A687C7D638}" type="parTrans" cxnId="{CEDAE0B3-D301-4006-A42C-A07243365F91}">
      <dgm:prSet/>
      <dgm:spPr/>
      <dgm:t>
        <a:bodyPr/>
        <a:lstStyle/>
        <a:p>
          <a:endParaRPr lang="en-US"/>
        </a:p>
      </dgm:t>
    </dgm:pt>
    <dgm:pt modelId="{0EE0B78A-E414-4C9C-BA54-35BB65A7F16A}" type="sibTrans" cxnId="{CEDAE0B3-D301-4006-A42C-A07243365F91}">
      <dgm:prSet/>
      <dgm:spPr/>
      <dgm:t>
        <a:bodyPr/>
        <a:lstStyle/>
        <a:p>
          <a:endParaRPr lang="en-US"/>
        </a:p>
      </dgm:t>
    </dgm:pt>
    <dgm:pt modelId="{9A48A473-D81A-406B-8B24-FAC99327F6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Demo neyi gösteriyor?</a:t>
          </a:r>
          <a:br>
            <a:rPr lang="en-US" b="0" i="0" baseline="0"/>
          </a:br>
          <a:r>
            <a:rPr lang="en-US" b="0" i="0" baseline="0"/>
            <a:t>• Duygusal karar riski </a:t>
          </a:r>
          <a:r>
            <a:rPr lang="en-US" b="1" i="0" baseline="0"/>
            <a:t>düşük / orta / yüksek</a:t>
          </a:r>
          <a:r>
            <a:rPr lang="en-US" b="0" i="0" baseline="0"/>
            <a:t> olarak ayrıştırılabiliyor</a:t>
          </a:r>
          <a:br>
            <a:rPr lang="en-US" b="0" i="0" baseline="0"/>
          </a:br>
          <a:r>
            <a:rPr lang="en-US" b="0" i="0" baseline="0"/>
            <a:t>• Aynı kullanıcı için farklı senaryolarda </a:t>
          </a:r>
          <a:r>
            <a:rPr lang="en-US" b="1" i="0" baseline="0"/>
            <a:t>farklı sonuçlar</a:t>
          </a:r>
          <a:r>
            <a:rPr lang="en-US" b="0" i="0" baseline="0"/>
            <a:t> üretilebiliyor</a:t>
          </a:r>
          <a:br>
            <a:rPr lang="en-US" b="0" i="0" baseline="0"/>
          </a:br>
          <a:r>
            <a:rPr lang="en-US" b="0" i="0" baseline="0"/>
            <a:t>• Kullanıcıya </a:t>
          </a:r>
          <a:r>
            <a:rPr lang="en-US" b="1" i="0" baseline="0"/>
            <a:t>tavsiye değil</a:t>
          </a:r>
          <a:r>
            <a:rPr lang="en-US" b="0" i="0" baseline="0"/>
            <a:t>, farkındalık ve eğitim sunuluyor</a:t>
          </a:r>
          <a:endParaRPr lang="en-US"/>
        </a:p>
      </dgm:t>
    </dgm:pt>
    <dgm:pt modelId="{3C56BB91-5696-491F-810C-DEBE592580D0}" type="parTrans" cxnId="{5D911065-6D34-4DD3-ADA2-3419C9410E15}">
      <dgm:prSet/>
      <dgm:spPr/>
      <dgm:t>
        <a:bodyPr/>
        <a:lstStyle/>
        <a:p>
          <a:endParaRPr lang="en-US"/>
        </a:p>
      </dgm:t>
    </dgm:pt>
    <dgm:pt modelId="{041F2109-375C-4D20-A3BA-9939218FE347}" type="sibTrans" cxnId="{5D911065-6D34-4DD3-ADA2-3419C9410E15}">
      <dgm:prSet/>
      <dgm:spPr/>
      <dgm:t>
        <a:bodyPr/>
        <a:lstStyle/>
        <a:p>
          <a:endParaRPr lang="en-US"/>
        </a:p>
      </dgm:t>
    </dgm:pt>
    <dgm:pt modelId="{741827A3-4017-4C1A-894A-3559ADBD35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✓ Çalışan Live PoC</a:t>
          </a:r>
          <a:br>
            <a:rPr lang="en-US" b="0" i="0" baseline="0"/>
          </a:br>
          <a:r>
            <a:rPr lang="en-US" b="0" i="0" baseline="0"/>
            <a:t>✓ Video submission’da </a:t>
          </a:r>
          <a:r>
            <a:rPr lang="en-US" b="1" i="0" baseline="0"/>
            <a:t>gerçek kullanıcı akışı</a:t>
          </a:r>
          <a:r>
            <a:rPr lang="en-US" b="0" i="0" baseline="0"/>
            <a:t> gösterilecek</a:t>
          </a:r>
          <a:endParaRPr lang="en-US"/>
        </a:p>
      </dgm:t>
    </dgm:pt>
    <dgm:pt modelId="{952637E8-B790-4717-AFB3-0766E7F6AE8B}" type="parTrans" cxnId="{F8CBC3A2-C3E4-4F7D-B79E-3D600C27C5C6}">
      <dgm:prSet/>
      <dgm:spPr/>
      <dgm:t>
        <a:bodyPr/>
        <a:lstStyle/>
        <a:p>
          <a:endParaRPr lang="en-US"/>
        </a:p>
      </dgm:t>
    </dgm:pt>
    <dgm:pt modelId="{CCEBE43A-4322-49C1-A38E-8B19AED41861}" type="sibTrans" cxnId="{F8CBC3A2-C3E4-4F7D-B79E-3D600C27C5C6}">
      <dgm:prSet/>
      <dgm:spPr/>
      <dgm:t>
        <a:bodyPr/>
        <a:lstStyle/>
        <a:p>
          <a:endParaRPr lang="en-US"/>
        </a:p>
      </dgm:t>
    </dgm:pt>
    <dgm:pt modelId="{42408D75-4DEC-4770-98F1-1FE8A04C2A84}" type="pres">
      <dgm:prSet presAssocID="{BA1862B2-3E98-42B1-804C-BA64E0B98496}" presName="root" presStyleCnt="0">
        <dgm:presLayoutVars>
          <dgm:dir/>
          <dgm:resizeHandles val="exact"/>
        </dgm:presLayoutVars>
      </dgm:prSet>
      <dgm:spPr/>
    </dgm:pt>
    <dgm:pt modelId="{8D5C596D-1683-434A-A320-4A46660277F9}" type="pres">
      <dgm:prSet presAssocID="{667213D4-3D2D-4FBE-AFF3-71851749D927}" presName="compNode" presStyleCnt="0"/>
      <dgm:spPr/>
    </dgm:pt>
    <dgm:pt modelId="{EB5EB23E-1A75-4296-B700-B30CC8262EBB}" type="pres">
      <dgm:prSet presAssocID="{667213D4-3D2D-4FBE-AFF3-71851749D927}" presName="bgRect" presStyleLbl="bgShp" presStyleIdx="0" presStyleCnt="3"/>
      <dgm:spPr/>
    </dgm:pt>
    <dgm:pt modelId="{59B4608D-D3A8-46E7-9090-0D97F38EC490}" type="pres">
      <dgm:prSet presAssocID="{667213D4-3D2D-4FBE-AFF3-71851749D9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hale"/>
        </a:ext>
      </dgm:extLst>
    </dgm:pt>
    <dgm:pt modelId="{99E0C7D2-9809-49C5-9416-A268CE95DC37}" type="pres">
      <dgm:prSet presAssocID="{667213D4-3D2D-4FBE-AFF3-71851749D927}" presName="spaceRect" presStyleCnt="0"/>
      <dgm:spPr/>
    </dgm:pt>
    <dgm:pt modelId="{481C7B9A-3A45-4134-B857-246F8C935405}" type="pres">
      <dgm:prSet presAssocID="{667213D4-3D2D-4FBE-AFF3-71851749D927}" presName="parTx" presStyleLbl="revTx" presStyleIdx="0" presStyleCnt="3">
        <dgm:presLayoutVars>
          <dgm:chMax val="0"/>
          <dgm:chPref val="0"/>
        </dgm:presLayoutVars>
      </dgm:prSet>
      <dgm:spPr/>
    </dgm:pt>
    <dgm:pt modelId="{5C25406F-86AF-4D92-8138-B99B305E999E}" type="pres">
      <dgm:prSet presAssocID="{0EE0B78A-E414-4C9C-BA54-35BB65A7F16A}" presName="sibTrans" presStyleCnt="0"/>
      <dgm:spPr/>
    </dgm:pt>
    <dgm:pt modelId="{0337704E-ECD8-409C-810E-928C2B5A4FF1}" type="pres">
      <dgm:prSet presAssocID="{9A48A473-D81A-406B-8B24-FAC99327F639}" presName="compNode" presStyleCnt="0"/>
      <dgm:spPr/>
    </dgm:pt>
    <dgm:pt modelId="{0B6FAD8F-F2E3-464C-9935-6618424D5A82}" type="pres">
      <dgm:prSet presAssocID="{9A48A473-D81A-406B-8B24-FAC99327F639}" presName="bgRect" presStyleLbl="bgShp" presStyleIdx="1" presStyleCnt="3"/>
      <dgm:spPr/>
    </dgm:pt>
    <dgm:pt modelId="{68200117-36E6-4EE8-A309-B665A0F3B886}" type="pres">
      <dgm:prSet presAssocID="{9A48A473-D81A-406B-8B24-FAC99327F63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CDA1CEAB-1492-498D-8CB7-D2EE97A0B593}" type="pres">
      <dgm:prSet presAssocID="{9A48A473-D81A-406B-8B24-FAC99327F639}" presName="spaceRect" presStyleCnt="0"/>
      <dgm:spPr/>
    </dgm:pt>
    <dgm:pt modelId="{3F82362C-84E5-442E-98BF-FC1E280A619E}" type="pres">
      <dgm:prSet presAssocID="{9A48A473-D81A-406B-8B24-FAC99327F639}" presName="parTx" presStyleLbl="revTx" presStyleIdx="1" presStyleCnt="3">
        <dgm:presLayoutVars>
          <dgm:chMax val="0"/>
          <dgm:chPref val="0"/>
        </dgm:presLayoutVars>
      </dgm:prSet>
      <dgm:spPr/>
    </dgm:pt>
    <dgm:pt modelId="{8003DCAB-68C6-4C50-B325-4EBA7EF4DB32}" type="pres">
      <dgm:prSet presAssocID="{041F2109-375C-4D20-A3BA-9939218FE347}" presName="sibTrans" presStyleCnt="0"/>
      <dgm:spPr/>
    </dgm:pt>
    <dgm:pt modelId="{9555FA14-2E82-4CD6-8E86-A72D6196AD47}" type="pres">
      <dgm:prSet presAssocID="{741827A3-4017-4C1A-894A-3559ADBD35F5}" presName="compNode" presStyleCnt="0"/>
      <dgm:spPr/>
    </dgm:pt>
    <dgm:pt modelId="{8CF51894-0028-42C1-9744-929A618CB690}" type="pres">
      <dgm:prSet presAssocID="{741827A3-4017-4C1A-894A-3559ADBD35F5}" presName="bgRect" presStyleLbl="bgShp" presStyleIdx="2" presStyleCnt="3"/>
      <dgm:spPr/>
    </dgm:pt>
    <dgm:pt modelId="{79767A9F-AEE7-44B6-BD38-BF3E192F7437}" type="pres">
      <dgm:prSet presAssocID="{741827A3-4017-4C1A-894A-3559ADBD35F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0D16EBCA-BA9E-43EA-987D-59579DEF0BA1}" type="pres">
      <dgm:prSet presAssocID="{741827A3-4017-4C1A-894A-3559ADBD35F5}" presName="spaceRect" presStyleCnt="0"/>
      <dgm:spPr/>
    </dgm:pt>
    <dgm:pt modelId="{2D3F1653-B0D8-4EEA-9EB0-86444D16C1D0}" type="pres">
      <dgm:prSet presAssocID="{741827A3-4017-4C1A-894A-3559ADBD35F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D911065-6D34-4DD3-ADA2-3419C9410E15}" srcId="{BA1862B2-3E98-42B1-804C-BA64E0B98496}" destId="{9A48A473-D81A-406B-8B24-FAC99327F639}" srcOrd="1" destOrd="0" parTransId="{3C56BB91-5696-491F-810C-DEBE592580D0}" sibTransId="{041F2109-375C-4D20-A3BA-9939218FE347}"/>
    <dgm:cxn modelId="{F8CBC3A2-C3E4-4F7D-B79E-3D600C27C5C6}" srcId="{BA1862B2-3E98-42B1-804C-BA64E0B98496}" destId="{741827A3-4017-4C1A-894A-3559ADBD35F5}" srcOrd="2" destOrd="0" parTransId="{952637E8-B790-4717-AFB3-0766E7F6AE8B}" sibTransId="{CCEBE43A-4322-49C1-A38E-8B19AED41861}"/>
    <dgm:cxn modelId="{32F0B3B3-A1AA-4BDB-A847-4A90A8FE3575}" type="presOf" srcId="{741827A3-4017-4C1A-894A-3559ADBD35F5}" destId="{2D3F1653-B0D8-4EEA-9EB0-86444D16C1D0}" srcOrd="0" destOrd="0" presId="urn:microsoft.com/office/officeart/2018/2/layout/IconVerticalSolidList"/>
    <dgm:cxn modelId="{CEDAE0B3-D301-4006-A42C-A07243365F91}" srcId="{BA1862B2-3E98-42B1-804C-BA64E0B98496}" destId="{667213D4-3D2D-4FBE-AFF3-71851749D927}" srcOrd="0" destOrd="0" parTransId="{822AC995-6218-490C-A2EF-52A687C7D638}" sibTransId="{0EE0B78A-E414-4C9C-BA54-35BB65A7F16A}"/>
    <dgm:cxn modelId="{5F7D4FB8-EDAF-4193-8C27-67FFF9C12143}" type="presOf" srcId="{667213D4-3D2D-4FBE-AFF3-71851749D927}" destId="{481C7B9A-3A45-4134-B857-246F8C935405}" srcOrd="0" destOrd="0" presId="urn:microsoft.com/office/officeart/2018/2/layout/IconVerticalSolidList"/>
    <dgm:cxn modelId="{6FF95FE0-1BFB-4FEC-BA1B-AB626C73BFE1}" type="presOf" srcId="{9A48A473-D81A-406B-8B24-FAC99327F639}" destId="{3F82362C-84E5-442E-98BF-FC1E280A619E}" srcOrd="0" destOrd="0" presId="urn:microsoft.com/office/officeart/2018/2/layout/IconVerticalSolidList"/>
    <dgm:cxn modelId="{EA079FEB-2A6F-49DE-9DA5-745C93A86437}" type="presOf" srcId="{BA1862B2-3E98-42B1-804C-BA64E0B98496}" destId="{42408D75-4DEC-4770-98F1-1FE8A04C2A84}" srcOrd="0" destOrd="0" presId="urn:microsoft.com/office/officeart/2018/2/layout/IconVerticalSolidList"/>
    <dgm:cxn modelId="{02B6583D-AAEA-4165-81C8-5495002768FF}" type="presParOf" srcId="{42408D75-4DEC-4770-98F1-1FE8A04C2A84}" destId="{8D5C596D-1683-434A-A320-4A46660277F9}" srcOrd="0" destOrd="0" presId="urn:microsoft.com/office/officeart/2018/2/layout/IconVerticalSolidList"/>
    <dgm:cxn modelId="{1B1F1539-2B04-474A-A626-C68DB2D93435}" type="presParOf" srcId="{8D5C596D-1683-434A-A320-4A46660277F9}" destId="{EB5EB23E-1A75-4296-B700-B30CC8262EBB}" srcOrd="0" destOrd="0" presId="urn:microsoft.com/office/officeart/2018/2/layout/IconVerticalSolidList"/>
    <dgm:cxn modelId="{BAAD536C-1153-4E3F-A4E3-02B04DBBDA0A}" type="presParOf" srcId="{8D5C596D-1683-434A-A320-4A46660277F9}" destId="{59B4608D-D3A8-46E7-9090-0D97F38EC490}" srcOrd="1" destOrd="0" presId="urn:microsoft.com/office/officeart/2018/2/layout/IconVerticalSolidList"/>
    <dgm:cxn modelId="{295FBD77-0A36-4A18-BF04-6DFC4A8D0CAC}" type="presParOf" srcId="{8D5C596D-1683-434A-A320-4A46660277F9}" destId="{99E0C7D2-9809-49C5-9416-A268CE95DC37}" srcOrd="2" destOrd="0" presId="urn:microsoft.com/office/officeart/2018/2/layout/IconVerticalSolidList"/>
    <dgm:cxn modelId="{D0EA14FE-C0FE-4A69-BF22-10EBE486C6BA}" type="presParOf" srcId="{8D5C596D-1683-434A-A320-4A46660277F9}" destId="{481C7B9A-3A45-4134-B857-246F8C935405}" srcOrd="3" destOrd="0" presId="urn:microsoft.com/office/officeart/2018/2/layout/IconVerticalSolidList"/>
    <dgm:cxn modelId="{B5D93E37-5273-4002-B786-7BD3CF677291}" type="presParOf" srcId="{42408D75-4DEC-4770-98F1-1FE8A04C2A84}" destId="{5C25406F-86AF-4D92-8138-B99B305E999E}" srcOrd="1" destOrd="0" presId="urn:microsoft.com/office/officeart/2018/2/layout/IconVerticalSolidList"/>
    <dgm:cxn modelId="{5251063F-E6DE-4AA3-A252-8727E3E1F660}" type="presParOf" srcId="{42408D75-4DEC-4770-98F1-1FE8A04C2A84}" destId="{0337704E-ECD8-409C-810E-928C2B5A4FF1}" srcOrd="2" destOrd="0" presId="urn:microsoft.com/office/officeart/2018/2/layout/IconVerticalSolidList"/>
    <dgm:cxn modelId="{9721CBF0-7FFF-4AE3-BDD5-6A65C4721811}" type="presParOf" srcId="{0337704E-ECD8-409C-810E-928C2B5A4FF1}" destId="{0B6FAD8F-F2E3-464C-9935-6618424D5A82}" srcOrd="0" destOrd="0" presId="urn:microsoft.com/office/officeart/2018/2/layout/IconVerticalSolidList"/>
    <dgm:cxn modelId="{4FCBED57-41A7-44D5-A5F9-792CB7CEEF26}" type="presParOf" srcId="{0337704E-ECD8-409C-810E-928C2B5A4FF1}" destId="{68200117-36E6-4EE8-A309-B665A0F3B886}" srcOrd="1" destOrd="0" presId="urn:microsoft.com/office/officeart/2018/2/layout/IconVerticalSolidList"/>
    <dgm:cxn modelId="{A9F66EC8-F646-4CC4-8EFB-3300CA38A148}" type="presParOf" srcId="{0337704E-ECD8-409C-810E-928C2B5A4FF1}" destId="{CDA1CEAB-1492-498D-8CB7-D2EE97A0B593}" srcOrd="2" destOrd="0" presId="urn:microsoft.com/office/officeart/2018/2/layout/IconVerticalSolidList"/>
    <dgm:cxn modelId="{5932FBCE-E4D1-4E6D-8670-35FB72655157}" type="presParOf" srcId="{0337704E-ECD8-409C-810E-928C2B5A4FF1}" destId="{3F82362C-84E5-442E-98BF-FC1E280A619E}" srcOrd="3" destOrd="0" presId="urn:microsoft.com/office/officeart/2018/2/layout/IconVerticalSolidList"/>
    <dgm:cxn modelId="{75F8DC38-400F-4582-8693-B81D154C79F1}" type="presParOf" srcId="{42408D75-4DEC-4770-98F1-1FE8A04C2A84}" destId="{8003DCAB-68C6-4C50-B325-4EBA7EF4DB32}" srcOrd="3" destOrd="0" presId="urn:microsoft.com/office/officeart/2018/2/layout/IconVerticalSolidList"/>
    <dgm:cxn modelId="{33915778-AFA3-48CF-8CEC-076DA4F79E72}" type="presParOf" srcId="{42408D75-4DEC-4770-98F1-1FE8A04C2A84}" destId="{9555FA14-2E82-4CD6-8E86-A72D6196AD47}" srcOrd="4" destOrd="0" presId="urn:microsoft.com/office/officeart/2018/2/layout/IconVerticalSolidList"/>
    <dgm:cxn modelId="{0B632A8B-5DA0-494C-80FA-2D9BB55E0051}" type="presParOf" srcId="{9555FA14-2E82-4CD6-8E86-A72D6196AD47}" destId="{8CF51894-0028-42C1-9744-929A618CB690}" srcOrd="0" destOrd="0" presId="urn:microsoft.com/office/officeart/2018/2/layout/IconVerticalSolidList"/>
    <dgm:cxn modelId="{C98846A2-E247-4E36-9A4D-99DFACB95D14}" type="presParOf" srcId="{9555FA14-2E82-4CD6-8E86-A72D6196AD47}" destId="{79767A9F-AEE7-44B6-BD38-BF3E192F7437}" srcOrd="1" destOrd="0" presId="urn:microsoft.com/office/officeart/2018/2/layout/IconVerticalSolidList"/>
    <dgm:cxn modelId="{19FA146A-5729-4436-A3FB-7A803BAF994C}" type="presParOf" srcId="{9555FA14-2E82-4CD6-8E86-A72D6196AD47}" destId="{0D16EBCA-BA9E-43EA-987D-59579DEF0BA1}" srcOrd="2" destOrd="0" presId="urn:microsoft.com/office/officeart/2018/2/layout/IconVerticalSolidList"/>
    <dgm:cxn modelId="{411D3C73-04A4-4078-A059-B363A6149A9E}" type="presParOf" srcId="{9555FA14-2E82-4CD6-8E86-A72D6196AD47}" destId="{2D3F1653-B0D8-4EEA-9EB0-86444D16C1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9AA5BE6-7F57-45B2-8C2F-FFDD6B2B016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AEED9B-BECA-45DA-B353-A363D54322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• </a:t>
          </a:r>
          <a:r>
            <a:rPr lang="en-US" b="1" i="0" baseline="0"/>
            <a:t>Davranışsal yatırım sinyallerinden türetilmiş</a:t>
          </a:r>
          <a:r>
            <a:rPr lang="en-US" b="0" i="0" baseline="0"/>
            <a:t> 20+ feature</a:t>
          </a:r>
          <a:br>
            <a:rPr lang="en-US" b="0" i="0" baseline="0"/>
          </a:br>
          <a:r>
            <a:rPr lang="en-US" b="0" i="1" baseline="0"/>
            <a:t>(senaryo tepkileri, karar hızı, tutarlılık)</a:t>
          </a:r>
          <a:br>
            <a:rPr lang="en-US" b="0" i="1" baseline="0"/>
          </a:br>
          <a:endParaRPr lang="en-US"/>
        </a:p>
      </dgm:t>
    </dgm:pt>
    <dgm:pt modelId="{15067AF0-50C8-49D3-9431-A3F91FA5F3B6}" type="parTrans" cxnId="{056C2CAD-1ED2-4C93-B803-02A78B198A2E}">
      <dgm:prSet/>
      <dgm:spPr/>
      <dgm:t>
        <a:bodyPr/>
        <a:lstStyle/>
        <a:p>
          <a:endParaRPr lang="en-US"/>
        </a:p>
      </dgm:t>
    </dgm:pt>
    <dgm:pt modelId="{EAD8E695-9778-495D-B211-6C17B677532A}" type="sibTrans" cxnId="{056C2CAD-1ED2-4C93-B803-02A78B198A2E}">
      <dgm:prSet/>
      <dgm:spPr/>
      <dgm:t>
        <a:bodyPr/>
        <a:lstStyle/>
        <a:p>
          <a:endParaRPr lang="en-US"/>
        </a:p>
      </dgm:t>
    </dgm:pt>
    <dgm:pt modelId="{B3EB1BA0-8E3B-42DD-A8A4-EA87C27436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• </a:t>
          </a:r>
          <a:r>
            <a:rPr lang="en-US" b="1" i="0" baseline="0"/>
            <a:t>Duygusal karar riski sınıflandırması</a:t>
          </a:r>
          <a:br>
            <a:rPr lang="en-US" b="0" i="0" baseline="0"/>
          </a:br>
          <a:r>
            <a:rPr lang="en-US" b="0" i="1" baseline="0"/>
            <a:t>(düşük / orta / yüksek)</a:t>
          </a:r>
          <a:br>
            <a:rPr lang="en-US" b="0" i="1" baseline="0"/>
          </a:br>
          <a:endParaRPr lang="en-US"/>
        </a:p>
      </dgm:t>
    </dgm:pt>
    <dgm:pt modelId="{6668C706-C7FF-45E7-BE7D-35C1492D018C}" type="parTrans" cxnId="{F1851456-81C5-4125-8DA0-CB8EC058EFC0}">
      <dgm:prSet/>
      <dgm:spPr/>
      <dgm:t>
        <a:bodyPr/>
        <a:lstStyle/>
        <a:p>
          <a:endParaRPr lang="en-US"/>
        </a:p>
      </dgm:t>
    </dgm:pt>
    <dgm:pt modelId="{8D6B6BCE-7528-4A76-BB6D-FE77B54449FE}" type="sibTrans" cxnId="{F1851456-81C5-4125-8DA0-CB8EC058EFC0}">
      <dgm:prSet/>
      <dgm:spPr/>
      <dgm:t>
        <a:bodyPr/>
        <a:lstStyle/>
        <a:p>
          <a:endParaRPr lang="en-US"/>
        </a:p>
      </dgm:t>
    </dgm:pt>
    <dgm:pt modelId="{708E75F1-8D9A-48C2-98E3-6179966F66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• </a:t>
          </a:r>
          <a:r>
            <a:rPr lang="en-US" b="1" i="0" baseline="0" dirty="0"/>
            <a:t>Logistic Regression</a:t>
          </a:r>
          <a:br>
            <a:rPr lang="en-US" b="0" i="0" baseline="0" dirty="0"/>
          </a:br>
          <a:r>
            <a:rPr lang="en-US" b="0" i="0" baseline="0" dirty="0"/>
            <a:t>– </a:t>
          </a:r>
          <a:r>
            <a:rPr lang="en-US" b="0" i="0" baseline="0" dirty="0" err="1"/>
            <a:t>Yorumlanabilir</a:t>
          </a:r>
          <a:br>
            <a:rPr lang="en-US" b="0" i="0" baseline="0" dirty="0"/>
          </a:br>
          <a:r>
            <a:rPr lang="en-US" b="0" i="0" baseline="0" dirty="0"/>
            <a:t>– </a:t>
          </a:r>
          <a:r>
            <a:rPr lang="en-US" b="0" i="0" baseline="0" dirty="0" err="1"/>
            <a:t>Regülasyon</a:t>
          </a:r>
          <a:r>
            <a:rPr lang="en-US" b="0" i="0" baseline="0" dirty="0"/>
            <a:t> </a:t>
          </a:r>
          <a:r>
            <a:rPr lang="en-US" b="0" i="0" baseline="0" dirty="0" err="1"/>
            <a:t>ve</a:t>
          </a:r>
          <a:r>
            <a:rPr lang="en-US" b="0" i="0" baseline="0" dirty="0"/>
            <a:t> </a:t>
          </a:r>
          <a:r>
            <a:rPr lang="en-US" b="0" i="0" baseline="0" dirty="0" err="1"/>
            <a:t>denetlenebilirlik</a:t>
          </a:r>
          <a:r>
            <a:rPr lang="en-US" b="0" i="0" baseline="0" dirty="0"/>
            <a:t> </a:t>
          </a:r>
          <a:r>
            <a:rPr lang="en-US" b="0" i="0" baseline="0" dirty="0" err="1"/>
            <a:t>açısından</a:t>
          </a:r>
          <a:r>
            <a:rPr lang="en-US" b="0" i="0" baseline="0" dirty="0"/>
            <a:t> </a:t>
          </a:r>
          <a:r>
            <a:rPr lang="en-US" b="0" i="0" baseline="0" dirty="0" err="1"/>
            <a:t>uygun</a:t>
          </a:r>
          <a:br>
            <a:rPr lang="en-US" b="0" i="0" baseline="0" dirty="0"/>
          </a:br>
          <a:endParaRPr lang="en-US" dirty="0"/>
        </a:p>
      </dgm:t>
    </dgm:pt>
    <dgm:pt modelId="{EAAA0610-314D-4CBB-9BC5-E071EEDE2EFD}" type="parTrans" cxnId="{AF696180-D2EF-4A2E-87E9-1543811E248F}">
      <dgm:prSet/>
      <dgm:spPr/>
      <dgm:t>
        <a:bodyPr/>
        <a:lstStyle/>
        <a:p>
          <a:endParaRPr lang="en-US"/>
        </a:p>
      </dgm:t>
    </dgm:pt>
    <dgm:pt modelId="{132ADFE0-08D2-44D3-A339-61B504F3FB1A}" type="sibTrans" cxnId="{AF696180-D2EF-4A2E-87E9-1543811E248F}">
      <dgm:prSet/>
      <dgm:spPr/>
      <dgm:t>
        <a:bodyPr/>
        <a:lstStyle/>
        <a:p>
          <a:endParaRPr lang="en-US"/>
        </a:p>
      </dgm:t>
    </dgm:pt>
    <dgm:pt modelId="{61FEC27A-96C9-42CF-8118-1DFB0943E9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• </a:t>
          </a:r>
          <a:r>
            <a:rPr lang="en-US" b="1" i="0" baseline="0"/>
            <a:t>Açıklanabilirlik (feature contribution)</a:t>
          </a:r>
          <a:br>
            <a:rPr lang="en-US" b="0" i="0" baseline="0"/>
          </a:br>
          <a:r>
            <a:rPr lang="en-US" b="0" i="0" baseline="0"/>
            <a:t>– Her skorun </a:t>
          </a:r>
          <a:r>
            <a:rPr lang="en-US" i="0" baseline="0"/>
            <a:t>neden üretildiği </a:t>
          </a:r>
          <a:r>
            <a:rPr lang="en-US" b="0" i="0" baseline="0"/>
            <a:t>görülebilir</a:t>
          </a:r>
          <a:br>
            <a:rPr lang="en-US" b="0" i="0" baseline="0"/>
          </a:br>
          <a:endParaRPr lang="en-US"/>
        </a:p>
      </dgm:t>
    </dgm:pt>
    <dgm:pt modelId="{788495DA-438D-4F10-BC07-8AEEB6800B85}" type="parTrans" cxnId="{A91A5E75-B252-467B-BDD4-54EE22453809}">
      <dgm:prSet/>
      <dgm:spPr/>
      <dgm:t>
        <a:bodyPr/>
        <a:lstStyle/>
        <a:p>
          <a:endParaRPr lang="en-US"/>
        </a:p>
      </dgm:t>
    </dgm:pt>
    <dgm:pt modelId="{2DD268DB-AFC2-459A-ABD7-BF5DAC395DA4}" type="sibTrans" cxnId="{A91A5E75-B252-467B-BDD4-54EE22453809}">
      <dgm:prSet/>
      <dgm:spPr/>
      <dgm:t>
        <a:bodyPr/>
        <a:lstStyle/>
        <a:p>
          <a:endParaRPr lang="en-US"/>
        </a:p>
      </dgm:t>
    </dgm:pt>
    <dgm:pt modelId="{238A6F3A-9732-4BE7-BA52-B3A2613A0E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• </a:t>
          </a:r>
          <a:r>
            <a:rPr lang="en-US" b="1" i="0" baseline="0"/>
            <a:t>KVKK uyumlu tasarım</a:t>
          </a:r>
          <a:br>
            <a:rPr lang="en-US" b="0" i="0" baseline="0"/>
          </a:br>
          <a:r>
            <a:rPr lang="en-US" b="0" i="0" baseline="0"/>
            <a:t>– Sağlık verisi yok</a:t>
          </a:r>
          <a:br>
            <a:rPr lang="en-US" b="0" i="0" baseline="0"/>
          </a:br>
          <a:r>
            <a:rPr lang="en-US" b="0" i="0" baseline="0"/>
            <a:t>– Sadece yatırım davranışı sinyalleri</a:t>
          </a:r>
          <a:br>
            <a:rPr lang="en-US" b="0" i="0" baseline="0"/>
          </a:br>
          <a:endParaRPr lang="en-US"/>
        </a:p>
      </dgm:t>
    </dgm:pt>
    <dgm:pt modelId="{64B35284-5715-4517-9AD4-3B20444AC22A}" type="parTrans" cxnId="{03BFBD81-0080-4D69-9ED1-517614E7757F}">
      <dgm:prSet/>
      <dgm:spPr/>
      <dgm:t>
        <a:bodyPr/>
        <a:lstStyle/>
        <a:p>
          <a:endParaRPr lang="en-US"/>
        </a:p>
      </dgm:t>
    </dgm:pt>
    <dgm:pt modelId="{33FD1060-3C1C-4D35-8732-3920BCBD37CA}" type="sibTrans" cxnId="{03BFBD81-0080-4D69-9ED1-517614E7757F}">
      <dgm:prSet/>
      <dgm:spPr/>
      <dgm:t>
        <a:bodyPr/>
        <a:lstStyle/>
        <a:p>
          <a:endParaRPr lang="en-US"/>
        </a:p>
      </dgm:t>
    </dgm:pt>
    <dgm:pt modelId="{77E60538-DA2E-45B1-BC5E-C699B4DE88C5}" type="pres">
      <dgm:prSet presAssocID="{B9AA5BE6-7F57-45B2-8C2F-FFDD6B2B0160}" presName="root" presStyleCnt="0">
        <dgm:presLayoutVars>
          <dgm:dir/>
          <dgm:resizeHandles val="exact"/>
        </dgm:presLayoutVars>
      </dgm:prSet>
      <dgm:spPr/>
    </dgm:pt>
    <dgm:pt modelId="{98EF1EC4-EE62-437B-B9E1-5C1238F46EBE}" type="pres">
      <dgm:prSet presAssocID="{89AEED9B-BECA-45DA-B353-A363D5432293}" presName="compNode" presStyleCnt="0"/>
      <dgm:spPr/>
    </dgm:pt>
    <dgm:pt modelId="{941E9F44-2BF9-490F-B750-70D249C3B9CC}" type="pres">
      <dgm:prSet presAssocID="{89AEED9B-BECA-45DA-B353-A363D543229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D09FE4D5-1FE4-446F-8E94-15AEDFF3E982}" type="pres">
      <dgm:prSet presAssocID="{89AEED9B-BECA-45DA-B353-A363D5432293}" presName="spaceRect" presStyleCnt="0"/>
      <dgm:spPr/>
    </dgm:pt>
    <dgm:pt modelId="{48C8C53E-D44E-4AF9-9F72-74CE8C7787C5}" type="pres">
      <dgm:prSet presAssocID="{89AEED9B-BECA-45DA-B353-A363D5432293}" presName="textRect" presStyleLbl="revTx" presStyleIdx="0" presStyleCnt="5">
        <dgm:presLayoutVars>
          <dgm:chMax val="1"/>
          <dgm:chPref val="1"/>
        </dgm:presLayoutVars>
      </dgm:prSet>
      <dgm:spPr/>
    </dgm:pt>
    <dgm:pt modelId="{D5FA3069-2B65-484B-9DA6-CBF24C86A234}" type="pres">
      <dgm:prSet presAssocID="{EAD8E695-9778-495D-B211-6C17B677532A}" presName="sibTrans" presStyleCnt="0"/>
      <dgm:spPr/>
    </dgm:pt>
    <dgm:pt modelId="{78B101E5-922A-440A-A461-F1A317F5D0DE}" type="pres">
      <dgm:prSet presAssocID="{B3EB1BA0-8E3B-42DD-A8A4-EA87C2743623}" presName="compNode" presStyleCnt="0"/>
      <dgm:spPr/>
    </dgm:pt>
    <dgm:pt modelId="{6B656E80-1431-48FA-B8A0-E1FB0E0A53F0}" type="pres">
      <dgm:prSet presAssocID="{B3EB1BA0-8E3B-42DD-A8A4-EA87C274362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B947307A-F5C4-4CC4-8471-4894E17BF725}" type="pres">
      <dgm:prSet presAssocID="{B3EB1BA0-8E3B-42DD-A8A4-EA87C2743623}" presName="spaceRect" presStyleCnt="0"/>
      <dgm:spPr/>
    </dgm:pt>
    <dgm:pt modelId="{A896442D-D9E3-4192-8AB7-BE711ADCA2CE}" type="pres">
      <dgm:prSet presAssocID="{B3EB1BA0-8E3B-42DD-A8A4-EA87C2743623}" presName="textRect" presStyleLbl="revTx" presStyleIdx="1" presStyleCnt="5">
        <dgm:presLayoutVars>
          <dgm:chMax val="1"/>
          <dgm:chPref val="1"/>
        </dgm:presLayoutVars>
      </dgm:prSet>
      <dgm:spPr/>
    </dgm:pt>
    <dgm:pt modelId="{C29A3669-D1BA-46B6-BCD5-3EFBCC5785B3}" type="pres">
      <dgm:prSet presAssocID="{8D6B6BCE-7528-4A76-BB6D-FE77B54449FE}" presName="sibTrans" presStyleCnt="0"/>
      <dgm:spPr/>
    </dgm:pt>
    <dgm:pt modelId="{995C7CE8-981A-41DD-8079-432E0D34A0ED}" type="pres">
      <dgm:prSet presAssocID="{708E75F1-8D9A-48C2-98E3-6179966F66AC}" presName="compNode" presStyleCnt="0"/>
      <dgm:spPr/>
    </dgm:pt>
    <dgm:pt modelId="{A1C54745-72D6-491A-AD17-74FB9436C4EA}" type="pres">
      <dgm:prSet presAssocID="{708E75F1-8D9A-48C2-98E3-6179966F66A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C85EAC1-CF09-4D2E-A021-D91FAD68A425}" type="pres">
      <dgm:prSet presAssocID="{708E75F1-8D9A-48C2-98E3-6179966F66AC}" presName="spaceRect" presStyleCnt="0"/>
      <dgm:spPr/>
    </dgm:pt>
    <dgm:pt modelId="{03650C86-2639-4A87-8F0B-0129F06D913E}" type="pres">
      <dgm:prSet presAssocID="{708E75F1-8D9A-48C2-98E3-6179966F66AC}" presName="textRect" presStyleLbl="revTx" presStyleIdx="2" presStyleCnt="5">
        <dgm:presLayoutVars>
          <dgm:chMax val="1"/>
          <dgm:chPref val="1"/>
        </dgm:presLayoutVars>
      </dgm:prSet>
      <dgm:spPr/>
    </dgm:pt>
    <dgm:pt modelId="{B2E72C39-5EF0-4F5A-9650-09CB716DAE6C}" type="pres">
      <dgm:prSet presAssocID="{132ADFE0-08D2-44D3-A339-61B504F3FB1A}" presName="sibTrans" presStyleCnt="0"/>
      <dgm:spPr/>
    </dgm:pt>
    <dgm:pt modelId="{BFF622E1-11AC-47CA-96F4-7683AAC9FD52}" type="pres">
      <dgm:prSet presAssocID="{61FEC27A-96C9-42CF-8118-1DFB0943E91B}" presName="compNode" presStyleCnt="0"/>
      <dgm:spPr/>
    </dgm:pt>
    <dgm:pt modelId="{8D1F2724-5381-4634-9708-BA32F590C4AD}" type="pres">
      <dgm:prSet presAssocID="{61FEC27A-96C9-42CF-8118-1DFB0943E91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7BE8AA09-CAEE-4F55-8572-B0CE83516CDA}" type="pres">
      <dgm:prSet presAssocID="{61FEC27A-96C9-42CF-8118-1DFB0943E91B}" presName="spaceRect" presStyleCnt="0"/>
      <dgm:spPr/>
    </dgm:pt>
    <dgm:pt modelId="{E59ACB0C-E038-4359-A430-7C2E062B9AB4}" type="pres">
      <dgm:prSet presAssocID="{61FEC27A-96C9-42CF-8118-1DFB0943E91B}" presName="textRect" presStyleLbl="revTx" presStyleIdx="3" presStyleCnt="5">
        <dgm:presLayoutVars>
          <dgm:chMax val="1"/>
          <dgm:chPref val="1"/>
        </dgm:presLayoutVars>
      </dgm:prSet>
      <dgm:spPr/>
    </dgm:pt>
    <dgm:pt modelId="{26B16910-7C05-49B0-B3D9-9824CCFA722C}" type="pres">
      <dgm:prSet presAssocID="{2DD268DB-AFC2-459A-ABD7-BF5DAC395DA4}" presName="sibTrans" presStyleCnt="0"/>
      <dgm:spPr/>
    </dgm:pt>
    <dgm:pt modelId="{12D57422-D901-48CE-94E4-A89FA2F5CD04}" type="pres">
      <dgm:prSet presAssocID="{238A6F3A-9732-4BE7-BA52-B3A2613A0E96}" presName="compNode" presStyleCnt="0"/>
      <dgm:spPr/>
    </dgm:pt>
    <dgm:pt modelId="{82B18191-F3FD-40F7-ADC8-0766E692E336}" type="pres">
      <dgm:prSet presAssocID="{238A6F3A-9732-4BE7-BA52-B3A2613A0E9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al"/>
        </a:ext>
      </dgm:extLst>
    </dgm:pt>
    <dgm:pt modelId="{D73A7D16-2CE4-4E81-A59A-22FEC4194F4D}" type="pres">
      <dgm:prSet presAssocID="{238A6F3A-9732-4BE7-BA52-B3A2613A0E96}" presName="spaceRect" presStyleCnt="0"/>
      <dgm:spPr/>
    </dgm:pt>
    <dgm:pt modelId="{3DF73E2F-03BF-44F9-AAF6-5DD6F02890FE}" type="pres">
      <dgm:prSet presAssocID="{238A6F3A-9732-4BE7-BA52-B3A2613A0E9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011EC11-81C8-459A-995C-E7A0A78E077B}" type="presOf" srcId="{238A6F3A-9732-4BE7-BA52-B3A2613A0E96}" destId="{3DF73E2F-03BF-44F9-AAF6-5DD6F02890FE}" srcOrd="0" destOrd="0" presId="urn:microsoft.com/office/officeart/2018/2/layout/IconLabelList"/>
    <dgm:cxn modelId="{B5255C2E-F65C-481F-8C79-ABA155117060}" type="presOf" srcId="{B9AA5BE6-7F57-45B2-8C2F-FFDD6B2B0160}" destId="{77E60538-DA2E-45B1-BC5E-C699B4DE88C5}" srcOrd="0" destOrd="0" presId="urn:microsoft.com/office/officeart/2018/2/layout/IconLabelList"/>
    <dgm:cxn modelId="{F1851456-81C5-4125-8DA0-CB8EC058EFC0}" srcId="{B9AA5BE6-7F57-45B2-8C2F-FFDD6B2B0160}" destId="{B3EB1BA0-8E3B-42DD-A8A4-EA87C2743623}" srcOrd="1" destOrd="0" parTransId="{6668C706-C7FF-45E7-BE7D-35C1492D018C}" sibTransId="{8D6B6BCE-7528-4A76-BB6D-FE77B54449FE}"/>
    <dgm:cxn modelId="{A91A5E75-B252-467B-BDD4-54EE22453809}" srcId="{B9AA5BE6-7F57-45B2-8C2F-FFDD6B2B0160}" destId="{61FEC27A-96C9-42CF-8118-1DFB0943E91B}" srcOrd="3" destOrd="0" parTransId="{788495DA-438D-4F10-BC07-8AEEB6800B85}" sibTransId="{2DD268DB-AFC2-459A-ABD7-BF5DAC395DA4}"/>
    <dgm:cxn modelId="{AF696180-D2EF-4A2E-87E9-1543811E248F}" srcId="{B9AA5BE6-7F57-45B2-8C2F-FFDD6B2B0160}" destId="{708E75F1-8D9A-48C2-98E3-6179966F66AC}" srcOrd="2" destOrd="0" parTransId="{EAAA0610-314D-4CBB-9BC5-E071EEDE2EFD}" sibTransId="{132ADFE0-08D2-44D3-A339-61B504F3FB1A}"/>
    <dgm:cxn modelId="{03BFBD81-0080-4D69-9ED1-517614E7757F}" srcId="{B9AA5BE6-7F57-45B2-8C2F-FFDD6B2B0160}" destId="{238A6F3A-9732-4BE7-BA52-B3A2613A0E96}" srcOrd="4" destOrd="0" parTransId="{64B35284-5715-4517-9AD4-3B20444AC22A}" sibTransId="{33FD1060-3C1C-4D35-8732-3920BCBD37CA}"/>
    <dgm:cxn modelId="{0DECCFA8-1983-4F65-BBEB-1F5B1EF1DBF6}" type="presOf" srcId="{708E75F1-8D9A-48C2-98E3-6179966F66AC}" destId="{03650C86-2639-4A87-8F0B-0129F06D913E}" srcOrd="0" destOrd="0" presId="urn:microsoft.com/office/officeart/2018/2/layout/IconLabelList"/>
    <dgm:cxn modelId="{056C2CAD-1ED2-4C93-B803-02A78B198A2E}" srcId="{B9AA5BE6-7F57-45B2-8C2F-FFDD6B2B0160}" destId="{89AEED9B-BECA-45DA-B353-A363D5432293}" srcOrd="0" destOrd="0" parTransId="{15067AF0-50C8-49D3-9431-A3F91FA5F3B6}" sibTransId="{EAD8E695-9778-495D-B211-6C17B677532A}"/>
    <dgm:cxn modelId="{336EDCB7-B75E-4334-8F51-EAC82F37E813}" type="presOf" srcId="{B3EB1BA0-8E3B-42DD-A8A4-EA87C2743623}" destId="{A896442D-D9E3-4192-8AB7-BE711ADCA2CE}" srcOrd="0" destOrd="0" presId="urn:microsoft.com/office/officeart/2018/2/layout/IconLabelList"/>
    <dgm:cxn modelId="{7D6B2CCB-13E8-4FC4-A4DD-80F81577A47A}" type="presOf" srcId="{89AEED9B-BECA-45DA-B353-A363D5432293}" destId="{48C8C53E-D44E-4AF9-9F72-74CE8C7787C5}" srcOrd="0" destOrd="0" presId="urn:microsoft.com/office/officeart/2018/2/layout/IconLabelList"/>
    <dgm:cxn modelId="{DDCCCADB-8F19-412D-A518-4FCC35A0686F}" type="presOf" srcId="{61FEC27A-96C9-42CF-8118-1DFB0943E91B}" destId="{E59ACB0C-E038-4359-A430-7C2E062B9AB4}" srcOrd="0" destOrd="0" presId="urn:microsoft.com/office/officeart/2018/2/layout/IconLabelList"/>
    <dgm:cxn modelId="{A8CBF1A7-9FDA-4B7F-A53F-7363EE38AF00}" type="presParOf" srcId="{77E60538-DA2E-45B1-BC5E-C699B4DE88C5}" destId="{98EF1EC4-EE62-437B-B9E1-5C1238F46EBE}" srcOrd="0" destOrd="0" presId="urn:microsoft.com/office/officeart/2018/2/layout/IconLabelList"/>
    <dgm:cxn modelId="{E1179FAE-6188-4E81-A5FC-2C0E58CDDDA7}" type="presParOf" srcId="{98EF1EC4-EE62-437B-B9E1-5C1238F46EBE}" destId="{941E9F44-2BF9-490F-B750-70D249C3B9CC}" srcOrd="0" destOrd="0" presId="urn:microsoft.com/office/officeart/2018/2/layout/IconLabelList"/>
    <dgm:cxn modelId="{52E63EC9-79E8-459A-BC07-F69920B58BA3}" type="presParOf" srcId="{98EF1EC4-EE62-437B-B9E1-5C1238F46EBE}" destId="{D09FE4D5-1FE4-446F-8E94-15AEDFF3E982}" srcOrd="1" destOrd="0" presId="urn:microsoft.com/office/officeart/2018/2/layout/IconLabelList"/>
    <dgm:cxn modelId="{359F00EC-299A-47CD-BF49-3B5C8B5E8C3A}" type="presParOf" srcId="{98EF1EC4-EE62-437B-B9E1-5C1238F46EBE}" destId="{48C8C53E-D44E-4AF9-9F72-74CE8C7787C5}" srcOrd="2" destOrd="0" presId="urn:microsoft.com/office/officeart/2018/2/layout/IconLabelList"/>
    <dgm:cxn modelId="{5EA1DB65-CE9C-4699-AC95-1912D4B386F2}" type="presParOf" srcId="{77E60538-DA2E-45B1-BC5E-C699B4DE88C5}" destId="{D5FA3069-2B65-484B-9DA6-CBF24C86A234}" srcOrd="1" destOrd="0" presId="urn:microsoft.com/office/officeart/2018/2/layout/IconLabelList"/>
    <dgm:cxn modelId="{2A3FE25D-7006-4892-ACB5-C70A63DBBBC8}" type="presParOf" srcId="{77E60538-DA2E-45B1-BC5E-C699B4DE88C5}" destId="{78B101E5-922A-440A-A461-F1A317F5D0DE}" srcOrd="2" destOrd="0" presId="urn:microsoft.com/office/officeart/2018/2/layout/IconLabelList"/>
    <dgm:cxn modelId="{34090677-7C0C-42DE-977B-EE8719219966}" type="presParOf" srcId="{78B101E5-922A-440A-A461-F1A317F5D0DE}" destId="{6B656E80-1431-48FA-B8A0-E1FB0E0A53F0}" srcOrd="0" destOrd="0" presId="urn:microsoft.com/office/officeart/2018/2/layout/IconLabelList"/>
    <dgm:cxn modelId="{2FCCC51F-A49C-4986-96DD-0C7DB4C58D3A}" type="presParOf" srcId="{78B101E5-922A-440A-A461-F1A317F5D0DE}" destId="{B947307A-F5C4-4CC4-8471-4894E17BF725}" srcOrd="1" destOrd="0" presId="urn:microsoft.com/office/officeart/2018/2/layout/IconLabelList"/>
    <dgm:cxn modelId="{AD68C07A-0A80-4BDA-A8F3-778161C47074}" type="presParOf" srcId="{78B101E5-922A-440A-A461-F1A317F5D0DE}" destId="{A896442D-D9E3-4192-8AB7-BE711ADCA2CE}" srcOrd="2" destOrd="0" presId="urn:microsoft.com/office/officeart/2018/2/layout/IconLabelList"/>
    <dgm:cxn modelId="{6B665F61-F3C3-4B5E-A0BA-341955D89989}" type="presParOf" srcId="{77E60538-DA2E-45B1-BC5E-C699B4DE88C5}" destId="{C29A3669-D1BA-46B6-BCD5-3EFBCC5785B3}" srcOrd="3" destOrd="0" presId="urn:microsoft.com/office/officeart/2018/2/layout/IconLabelList"/>
    <dgm:cxn modelId="{0C454027-029B-4392-BAF8-9F950889FB88}" type="presParOf" srcId="{77E60538-DA2E-45B1-BC5E-C699B4DE88C5}" destId="{995C7CE8-981A-41DD-8079-432E0D34A0ED}" srcOrd="4" destOrd="0" presId="urn:microsoft.com/office/officeart/2018/2/layout/IconLabelList"/>
    <dgm:cxn modelId="{2352719A-BBBC-4BF2-9AB8-03A2B908C015}" type="presParOf" srcId="{995C7CE8-981A-41DD-8079-432E0D34A0ED}" destId="{A1C54745-72D6-491A-AD17-74FB9436C4EA}" srcOrd="0" destOrd="0" presId="urn:microsoft.com/office/officeart/2018/2/layout/IconLabelList"/>
    <dgm:cxn modelId="{1D2C7A1F-35A2-4B3C-875B-C294579D355D}" type="presParOf" srcId="{995C7CE8-981A-41DD-8079-432E0D34A0ED}" destId="{BC85EAC1-CF09-4D2E-A021-D91FAD68A425}" srcOrd="1" destOrd="0" presId="urn:microsoft.com/office/officeart/2018/2/layout/IconLabelList"/>
    <dgm:cxn modelId="{C51FC961-A0F3-41F8-A253-8B1CBB4727C7}" type="presParOf" srcId="{995C7CE8-981A-41DD-8079-432E0D34A0ED}" destId="{03650C86-2639-4A87-8F0B-0129F06D913E}" srcOrd="2" destOrd="0" presId="urn:microsoft.com/office/officeart/2018/2/layout/IconLabelList"/>
    <dgm:cxn modelId="{8FF8C230-C0A2-4D50-B7BD-BE037E715EDF}" type="presParOf" srcId="{77E60538-DA2E-45B1-BC5E-C699B4DE88C5}" destId="{B2E72C39-5EF0-4F5A-9650-09CB716DAE6C}" srcOrd="5" destOrd="0" presId="urn:microsoft.com/office/officeart/2018/2/layout/IconLabelList"/>
    <dgm:cxn modelId="{E8570094-52E0-476D-A212-A1558C87DF16}" type="presParOf" srcId="{77E60538-DA2E-45B1-BC5E-C699B4DE88C5}" destId="{BFF622E1-11AC-47CA-96F4-7683AAC9FD52}" srcOrd="6" destOrd="0" presId="urn:microsoft.com/office/officeart/2018/2/layout/IconLabelList"/>
    <dgm:cxn modelId="{B6A443CB-0949-43C4-9943-79044D03D77E}" type="presParOf" srcId="{BFF622E1-11AC-47CA-96F4-7683AAC9FD52}" destId="{8D1F2724-5381-4634-9708-BA32F590C4AD}" srcOrd="0" destOrd="0" presId="urn:microsoft.com/office/officeart/2018/2/layout/IconLabelList"/>
    <dgm:cxn modelId="{7DBC2C00-4EE6-4BE8-B09F-C58688A7035C}" type="presParOf" srcId="{BFF622E1-11AC-47CA-96F4-7683AAC9FD52}" destId="{7BE8AA09-CAEE-4F55-8572-B0CE83516CDA}" srcOrd="1" destOrd="0" presId="urn:microsoft.com/office/officeart/2018/2/layout/IconLabelList"/>
    <dgm:cxn modelId="{BA7DB6CB-F4A4-4B12-A1B0-5EC480EFF4C4}" type="presParOf" srcId="{BFF622E1-11AC-47CA-96F4-7683AAC9FD52}" destId="{E59ACB0C-E038-4359-A430-7C2E062B9AB4}" srcOrd="2" destOrd="0" presId="urn:microsoft.com/office/officeart/2018/2/layout/IconLabelList"/>
    <dgm:cxn modelId="{4F62EC28-1211-4E1C-82D7-D5D03A4B69D9}" type="presParOf" srcId="{77E60538-DA2E-45B1-BC5E-C699B4DE88C5}" destId="{26B16910-7C05-49B0-B3D9-9824CCFA722C}" srcOrd="7" destOrd="0" presId="urn:microsoft.com/office/officeart/2018/2/layout/IconLabelList"/>
    <dgm:cxn modelId="{A25CC7FE-E7B1-4347-84D9-78EF2D838FF6}" type="presParOf" srcId="{77E60538-DA2E-45B1-BC5E-C699B4DE88C5}" destId="{12D57422-D901-48CE-94E4-A89FA2F5CD04}" srcOrd="8" destOrd="0" presId="urn:microsoft.com/office/officeart/2018/2/layout/IconLabelList"/>
    <dgm:cxn modelId="{07CC5CE4-7D30-4786-994C-C2915349C9B6}" type="presParOf" srcId="{12D57422-D901-48CE-94E4-A89FA2F5CD04}" destId="{82B18191-F3FD-40F7-ADC8-0766E692E336}" srcOrd="0" destOrd="0" presId="urn:microsoft.com/office/officeart/2018/2/layout/IconLabelList"/>
    <dgm:cxn modelId="{FB737D57-C82D-4F95-90F0-F87DF501B216}" type="presParOf" srcId="{12D57422-D901-48CE-94E4-A89FA2F5CD04}" destId="{D73A7D16-2CE4-4E81-A59A-22FEC4194F4D}" srcOrd="1" destOrd="0" presId="urn:microsoft.com/office/officeart/2018/2/layout/IconLabelList"/>
    <dgm:cxn modelId="{11A0FA03-52BE-4A9D-A4CB-D6576D6891AA}" type="presParOf" srcId="{12D57422-D901-48CE-94E4-A89FA2F5CD04}" destId="{3DF73E2F-03BF-44F9-AAF6-5DD6F02890F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21584B-5FF3-674B-99AF-6ED680F7DFE6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kern="1200" dirty="0"/>
            <a:t>Genç </a:t>
          </a:r>
          <a:r>
            <a:rPr lang="en-US" sz="1800" b="0" i="0" u="none" kern="1200" dirty="0" err="1"/>
            <a:t>yatırımcılar</a:t>
          </a:r>
          <a:r>
            <a:rPr lang="en-US" sz="1800" b="0" i="0" u="none" kern="1200" dirty="0"/>
            <a:t> </a:t>
          </a:r>
          <a:r>
            <a:rPr lang="en-US" sz="1800" b="0" i="0" u="none" kern="1200" dirty="0" err="1"/>
            <a:t>bilgiye</a:t>
          </a:r>
          <a:r>
            <a:rPr lang="en-US" sz="1800" b="0" i="0" u="none" kern="1200" dirty="0"/>
            <a:t> </a:t>
          </a:r>
          <a:r>
            <a:rPr lang="en-US" sz="1800" b="0" i="0" u="none" kern="1200" dirty="0" err="1"/>
            <a:t>erişebiliyor</a:t>
          </a:r>
          <a:r>
            <a:rPr lang="en-US" sz="1800" b="0" i="0" u="none" kern="1200" dirty="0"/>
            <a:t>, </a:t>
          </a:r>
          <a:r>
            <a:rPr lang="en-US" sz="1800" b="0" i="0" u="none" kern="1200" dirty="0" err="1"/>
            <a:t>ancak</a:t>
          </a:r>
          <a:r>
            <a:rPr lang="en-US" sz="1800" b="0" i="0" u="none" kern="1200" dirty="0"/>
            <a:t> </a:t>
          </a:r>
          <a:r>
            <a:rPr lang="en-US" sz="1800" b="0" i="0" u="none" kern="1200" dirty="0" err="1"/>
            <a:t>yüksek</a:t>
          </a:r>
          <a:r>
            <a:rPr lang="en-US" sz="1800" b="0" i="0" u="none" kern="1200" dirty="0"/>
            <a:t> </a:t>
          </a:r>
          <a:r>
            <a:rPr lang="en-US" sz="1800" b="0" i="0" u="none" kern="1200" dirty="0" err="1"/>
            <a:t>volatilite</a:t>
          </a:r>
          <a:r>
            <a:rPr lang="en-US" sz="1800" b="0" i="0" u="none" kern="1200" dirty="0"/>
            <a:t> </a:t>
          </a:r>
          <a:r>
            <a:rPr lang="en-US" sz="1800" b="0" i="0" u="none" kern="1200" dirty="0" err="1"/>
            <a:t>dönemlerinde</a:t>
          </a:r>
          <a:r>
            <a:rPr lang="en-US" sz="1800" b="0" i="0" u="none" kern="1200" dirty="0"/>
            <a:t> </a:t>
          </a:r>
          <a:r>
            <a:rPr lang="en-US" sz="1800" b="0" i="0" u="none" kern="1200" dirty="0" err="1"/>
            <a:t>karar</a:t>
          </a:r>
          <a:r>
            <a:rPr lang="en-US" sz="1800" b="0" i="0" u="none" kern="1200" dirty="0"/>
            <a:t> </a:t>
          </a:r>
          <a:r>
            <a:rPr lang="en-US" sz="1800" b="0" i="0" u="none" kern="1200" dirty="0" err="1"/>
            <a:t>süreçlerinde</a:t>
          </a:r>
          <a:r>
            <a:rPr lang="en-US" sz="1800" b="0" i="0" u="none" kern="1200" dirty="0"/>
            <a:t> </a:t>
          </a:r>
          <a:r>
            <a:rPr lang="en-US" sz="1800" b="0" i="0" u="none" kern="1200" dirty="0" err="1"/>
            <a:t>desteklenmiyor</a:t>
          </a:r>
          <a:r>
            <a:rPr lang="en-US" sz="1800" b="0" i="0" u="none" kern="1200" dirty="0"/>
            <a:t>.</a:t>
          </a:r>
          <a:endParaRPr lang="en-US" sz="1800" kern="1200" dirty="0"/>
        </a:p>
      </dsp:txBody>
      <dsp:txXfrm>
        <a:off x="0" y="39687"/>
        <a:ext cx="3286125" cy="1971675"/>
      </dsp:txXfrm>
    </dsp:sp>
    <dsp:sp modelId="{84B42B6B-3CE2-3248-9A7A-31CAA7E8D693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– Yüksek </a:t>
          </a:r>
          <a:r>
            <a:rPr lang="en-US" sz="1800" b="0" i="0" kern="1200" baseline="0" dirty="0" err="1"/>
            <a:t>volatilite</a:t>
          </a:r>
          <a:r>
            <a:rPr lang="en-US" sz="1800" b="0" i="0" kern="1200" baseline="0" dirty="0"/>
            <a:t> </a:t>
          </a:r>
          <a:r>
            <a:rPr lang="en-US" sz="1800" b="0" i="0" kern="1200" baseline="0" dirty="0" err="1"/>
            <a:t>anlarında</a:t>
          </a:r>
          <a:r>
            <a:rPr lang="en-US" sz="1800" b="0" i="0" kern="1200" baseline="0" dirty="0"/>
            <a:t> ani </a:t>
          </a:r>
          <a:r>
            <a:rPr lang="en-US" sz="1800" b="0" i="0" kern="1200" baseline="0" dirty="0" err="1"/>
            <a:t>ve</a:t>
          </a:r>
          <a:r>
            <a:rPr lang="en-US" sz="1800" b="0" i="0" kern="1200" baseline="0" dirty="0"/>
            <a:t> </a:t>
          </a:r>
          <a:r>
            <a:rPr lang="en-US" sz="1800" b="0" i="0" kern="1200" baseline="0" dirty="0" err="1"/>
            <a:t>plansız</a:t>
          </a:r>
          <a:r>
            <a:rPr lang="en-US" sz="1800" b="0" i="0" kern="1200" baseline="0" dirty="0"/>
            <a:t> </a:t>
          </a:r>
          <a:r>
            <a:rPr lang="en-US" sz="1800" b="0" i="0" kern="1200" baseline="0" dirty="0" err="1"/>
            <a:t>satışlar</a:t>
          </a:r>
          <a:endParaRPr lang="en-US" sz="1800" kern="1200" dirty="0"/>
        </a:p>
      </dsp:txBody>
      <dsp:txXfrm>
        <a:off x="3614737" y="39687"/>
        <a:ext cx="3286125" cy="1971675"/>
      </dsp:txXfrm>
    </dsp:sp>
    <dsp:sp modelId="{A44456B1-305A-2C48-B829-1D081CD1213E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– Sosyal medya etkisiyle tetiklenen FOMO işlemleri</a:t>
          </a:r>
          <a:endParaRPr lang="en-US" sz="1800" kern="1200"/>
        </a:p>
      </dsp:txBody>
      <dsp:txXfrm>
        <a:off x="7229475" y="39687"/>
        <a:ext cx="3286125" cy="1971675"/>
      </dsp:txXfrm>
    </dsp:sp>
    <dsp:sp modelId="{45C222F5-CBAB-2A43-94E2-90CB44B97E33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– Kişisel risk toleransı ile uyumsuz yatırım davranışları</a:t>
          </a:r>
          <a:br>
            <a:rPr lang="en-US" sz="1800" b="0" i="0" kern="1200" baseline="0"/>
          </a:br>
          <a:endParaRPr lang="en-US" sz="1800" kern="1200"/>
        </a:p>
      </dsp:txBody>
      <dsp:txXfrm>
        <a:off x="1807368" y="2339975"/>
        <a:ext cx="3286125" cy="1971675"/>
      </dsp:txXfrm>
    </dsp:sp>
    <dsp:sp modelId="{1FA5BA7A-68B6-744C-9A4E-F3580C7AE72B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Banka </a:t>
          </a:r>
          <a:r>
            <a:rPr lang="en-US" sz="1800" b="1" i="0" kern="1200" baseline="0" dirty="0" err="1"/>
            <a:t>açısından</a:t>
          </a:r>
          <a:r>
            <a:rPr lang="en-US" sz="1800" b="1" i="0" kern="1200" baseline="0" dirty="0"/>
            <a:t> </a:t>
          </a:r>
          <a:r>
            <a:rPr lang="en-US" sz="1800" b="1" i="0" kern="1200" baseline="0" dirty="0" err="1"/>
            <a:t>sonuç</a:t>
          </a:r>
          <a:r>
            <a:rPr lang="en-US" sz="1800" b="1" i="0" kern="1200" baseline="0" dirty="0"/>
            <a:t>:</a:t>
          </a:r>
          <a:br>
            <a:rPr lang="en-US" sz="1800" b="0" i="0" kern="1200" baseline="0" dirty="0"/>
          </a:br>
          <a:r>
            <a:rPr lang="en-US" sz="1800" b="0" i="0" kern="1200" baseline="0" dirty="0"/>
            <a:t>– Genç </a:t>
          </a:r>
          <a:r>
            <a:rPr lang="en-US" sz="1800" b="0" i="0" kern="1200" baseline="0" dirty="0" err="1"/>
            <a:t>müşteri</a:t>
          </a:r>
          <a:r>
            <a:rPr lang="en-US" sz="1800" b="0" i="0" kern="1200" baseline="0" dirty="0"/>
            <a:t> churn ↑</a:t>
          </a:r>
          <a:br>
            <a:rPr lang="en-US" sz="1800" b="0" i="0" kern="1200" baseline="0" dirty="0"/>
          </a:br>
          <a:br>
            <a:rPr lang="en-US" sz="1800" b="0" i="0" kern="1200" baseline="0" dirty="0"/>
          </a:br>
          <a:r>
            <a:rPr lang="en-US" sz="1800" b="0" i="0" kern="1200" baseline="0" dirty="0"/>
            <a:t>– </a:t>
          </a:r>
          <a:r>
            <a:rPr lang="en-US" sz="1800" b="0" i="0" kern="1200" baseline="0" dirty="0" err="1"/>
            <a:t>Yatırımda</a:t>
          </a:r>
          <a:r>
            <a:rPr lang="en-US" sz="1800" b="0" i="0" kern="1200" baseline="0" dirty="0"/>
            <a:t> </a:t>
          </a:r>
          <a:r>
            <a:rPr lang="en-US" sz="1800" b="0" i="0" kern="1200" baseline="0" dirty="0" err="1"/>
            <a:t>kalma</a:t>
          </a:r>
          <a:r>
            <a:rPr lang="en-US" sz="1800" b="0" i="0" kern="1200" baseline="0" dirty="0"/>
            <a:t> </a:t>
          </a:r>
          <a:r>
            <a:rPr lang="en-US" sz="1800" b="0" i="0" kern="1200" baseline="0" dirty="0" err="1"/>
            <a:t>süresi</a:t>
          </a:r>
          <a:r>
            <a:rPr lang="en-US" sz="1800" b="0" i="0" kern="1200" baseline="0" dirty="0"/>
            <a:t> ↓</a:t>
          </a:r>
          <a:br>
            <a:rPr lang="en-US" sz="1800" b="0" i="0" kern="1200" baseline="0" dirty="0"/>
          </a:br>
          <a:br>
            <a:rPr lang="en-US" sz="1800" b="0" i="0" kern="1200" baseline="0" dirty="0"/>
          </a:br>
          <a:r>
            <a:rPr lang="en-US" sz="1800" b="0" i="0" kern="1200" baseline="0" dirty="0"/>
            <a:t>– Uzun </a:t>
          </a:r>
          <a:r>
            <a:rPr lang="en-US" sz="1800" b="0" i="0" kern="1200" baseline="0" dirty="0" err="1"/>
            <a:t>vadeli</a:t>
          </a:r>
          <a:r>
            <a:rPr lang="en-US" sz="1800" b="0" i="0" kern="1200" baseline="0" dirty="0"/>
            <a:t> AUM </a:t>
          </a:r>
          <a:r>
            <a:rPr lang="en-US" sz="1800" b="0" i="0" kern="1200" baseline="0" dirty="0" err="1"/>
            <a:t>büyümesi</a:t>
          </a:r>
          <a:r>
            <a:rPr lang="en-US" sz="1800" b="0" i="0" kern="1200" baseline="0" dirty="0"/>
            <a:t> </a:t>
          </a:r>
          <a:r>
            <a:rPr lang="en-US" sz="1800" b="0" i="0" kern="1200" baseline="0" dirty="0" err="1"/>
            <a:t>sınırlanır</a:t>
          </a:r>
          <a:endParaRPr lang="en-US" sz="1800" kern="1200" dirty="0"/>
        </a:p>
      </dsp:txBody>
      <dsp:txXfrm>
        <a:off x="5422106" y="2339975"/>
        <a:ext cx="3286125" cy="1971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E1CD2A-6656-A949-99A2-25F8CA82A691}">
      <dsp:nvSpPr>
        <dsp:cNvPr id="0" name=""/>
        <dsp:cNvSpPr/>
      </dsp:nvSpPr>
      <dsp:spPr>
        <a:xfrm>
          <a:off x="2567" y="613926"/>
          <a:ext cx="1833041" cy="1163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A8B6F-1F39-704D-A68D-80FF344E488C}">
      <dsp:nvSpPr>
        <dsp:cNvPr id="0" name=""/>
        <dsp:cNvSpPr/>
      </dsp:nvSpPr>
      <dsp:spPr>
        <a:xfrm>
          <a:off x="206238" y="807414"/>
          <a:ext cx="1833041" cy="1163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Yatırım davranışı check-in’i</a:t>
          </a:r>
          <a:br>
            <a:rPr lang="en-US" sz="1400" b="0" i="0" kern="1200" baseline="0"/>
          </a:br>
          <a:r>
            <a:rPr lang="en-US" sz="1400" b="0" i="1" kern="1200" baseline="0"/>
            <a:t>(kısa senaryolar ile karar refleksleri ölçülür)</a:t>
          </a:r>
          <a:endParaRPr lang="en-US" sz="1400" kern="1200"/>
        </a:p>
      </dsp:txBody>
      <dsp:txXfrm>
        <a:off x="240330" y="841506"/>
        <a:ext cx="1764857" cy="1095797"/>
      </dsp:txXfrm>
    </dsp:sp>
    <dsp:sp modelId="{B4A1519C-E4E4-2047-AA49-AC46E5DF77DC}">
      <dsp:nvSpPr>
        <dsp:cNvPr id="0" name=""/>
        <dsp:cNvSpPr/>
      </dsp:nvSpPr>
      <dsp:spPr>
        <a:xfrm>
          <a:off x="2242951" y="613926"/>
          <a:ext cx="1833041" cy="1163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D6982-3CFA-144E-8F4C-98353A272502}">
      <dsp:nvSpPr>
        <dsp:cNvPr id="0" name=""/>
        <dsp:cNvSpPr/>
      </dsp:nvSpPr>
      <dsp:spPr>
        <a:xfrm>
          <a:off x="2446622" y="807414"/>
          <a:ext cx="1833041" cy="1163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Volatilite ve sosyal tetik senaryoları</a:t>
          </a:r>
          <a:br>
            <a:rPr lang="en-US" sz="1400" b="0" i="0" kern="1200" baseline="0"/>
          </a:br>
          <a:r>
            <a:rPr lang="en-US" sz="1400" b="0" i="1" kern="1200" baseline="0"/>
            <a:t>(kayıp, hızlı yükseliş, trend etkisi)</a:t>
          </a:r>
          <a:endParaRPr lang="en-US" sz="1400" kern="1200"/>
        </a:p>
      </dsp:txBody>
      <dsp:txXfrm>
        <a:off x="2480714" y="841506"/>
        <a:ext cx="1764857" cy="1095797"/>
      </dsp:txXfrm>
    </dsp:sp>
    <dsp:sp modelId="{1387A9D1-0A87-CD48-AB07-48B9ED3715D5}">
      <dsp:nvSpPr>
        <dsp:cNvPr id="0" name=""/>
        <dsp:cNvSpPr/>
      </dsp:nvSpPr>
      <dsp:spPr>
        <a:xfrm>
          <a:off x="4483335" y="613926"/>
          <a:ext cx="1833041" cy="1163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50773B-A72F-6940-B3A1-736F7BA7C048}">
      <dsp:nvSpPr>
        <dsp:cNvPr id="0" name=""/>
        <dsp:cNvSpPr/>
      </dsp:nvSpPr>
      <dsp:spPr>
        <a:xfrm>
          <a:off x="4687006" y="807414"/>
          <a:ext cx="1833041" cy="1163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Davranışsal risk göstergeleri</a:t>
          </a:r>
          <a:br>
            <a:rPr lang="en-US" sz="1400" b="0" i="0" kern="1200" baseline="0"/>
          </a:br>
          <a:r>
            <a:rPr lang="en-US" sz="1400" b="0" i="1" kern="1200" baseline="0"/>
            <a:t>(risk toleransı, karar hızı, işlem tutarlılığı)</a:t>
          </a:r>
          <a:endParaRPr lang="en-US" sz="1400" kern="1200"/>
        </a:p>
      </dsp:txBody>
      <dsp:txXfrm>
        <a:off x="4721098" y="841506"/>
        <a:ext cx="1764857" cy="1095797"/>
      </dsp:txXfrm>
    </dsp:sp>
    <dsp:sp modelId="{7D38B087-CF49-944C-8930-948E165C77A1}">
      <dsp:nvSpPr>
        <dsp:cNvPr id="0" name=""/>
        <dsp:cNvSpPr/>
      </dsp:nvSpPr>
      <dsp:spPr>
        <a:xfrm>
          <a:off x="6723719" y="613926"/>
          <a:ext cx="1833041" cy="11639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F412C-A5A0-6043-B271-3F5DEAC1448D}">
      <dsp:nvSpPr>
        <dsp:cNvPr id="0" name=""/>
        <dsp:cNvSpPr/>
      </dsp:nvSpPr>
      <dsp:spPr>
        <a:xfrm>
          <a:off x="6927391" y="807414"/>
          <a:ext cx="1833041" cy="11639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 dirty="0" err="1"/>
            <a:t>Davranışsal</a:t>
          </a:r>
          <a:r>
            <a:rPr lang="en-US" sz="1400" b="1" i="0" kern="1200" baseline="0" dirty="0"/>
            <a:t> </a:t>
          </a:r>
          <a:r>
            <a:rPr lang="en-US" sz="1400" b="1" i="0" kern="1200" baseline="0" dirty="0" err="1"/>
            <a:t>karar</a:t>
          </a:r>
          <a:r>
            <a:rPr lang="en-US" sz="1400" b="1" i="0" kern="1200" baseline="0" dirty="0"/>
            <a:t> </a:t>
          </a:r>
          <a:r>
            <a:rPr lang="en-US" sz="1400" b="1" i="0" kern="1200" baseline="0" dirty="0" err="1"/>
            <a:t>riski</a:t>
          </a:r>
          <a:r>
            <a:rPr lang="en-US" sz="1400" b="1" i="0" kern="1200" baseline="0" dirty="0"/>
            <a:t> </a:t>
          </a:r>
          <a:r>
            <a:rPr lang="en-US" sz="1400" b="0" i="0" u="none" kern="1200" dirty="0"/>
            <a:t>(</a:t>
          </a:r>
          <a:r>
            <a:rPr lang="en-US" sz="1400" b="0" i="0" u="none" kern="1200" dirty="0" err="1"/>
            <a:t>acelecilik</a:t>
          </a:r>
          <a:r>
            <a:rPr lang="en-US" sz="1400" b="0" i="0" u="none" kern="1200" dirty="0"/>
            <a:t>, plan </a:t>
          </a:r>
          <a:r>
            <a:rPr lang="en-US" sz="1400" b="0" i="0" u="none" kern="1200" dirty="0" err="1"/>
            <a:t>dışı</a:t>
          </a:r>
          <a:r>
            <a:rPr lang="en-US" sz="1400" b="0" i="0" u="none" kern="1200" dirty="0"/>
            <a:t> </a:t>
          </a:r>
          <a:r>
            <a:rPr lang="en-US" sz="1400" b="0" i="0" u="none" kern="1200" dirty="0" err="1"/>
            <a:t>aksiyon</a:t>
          </a:r>
          <a:r>
            <a:rPr lang="en-US" sz="1400" b="0" i="0" u="none" kern="1200" dirty="0"/>
            <a:t> </a:t>
          </a:r>
          <a:r>
            <a:rPr lang="en-US" sz="1400" b="0" i="0" u="none" kern="1200" dirty="0" err="1"/>
            <a:t>eğilimi</a:t>
          </a:r>
          <a:r>
            <a:rPr lang="en-US" sz="1400" b="0" i="0" u="none" kern="1200" dirty="0"/>
            <a:t>, </a:t>
          </a:r>
          <a:r>
            <a:rPr lang="en-US" sz="1400" b="0" i="0" u="none" kern="1200" dirty="0" err="1"/>
            <a:t>tutarsızlık</a:t>
          </a:r>
          <a:r>
            <a:rPr lang="en-US" sz="1400" b="0" i="0" u="none" kern="1200" dirty="0"/>
            <a:t>)</a:t>
          </a:r>
          <a:endParaRPr lang="en-US" sz="1400" kern="1200" dirty="0"/>
        </a:p>
      </dsp:txBody>
      <dsp:txXfrm>
        <a:off x="6961483" y="841506"/>
        <a:ext cx="1764857" cy="10957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5EB23E-1A75-4296-B700-B30CC8262EBB}">
      <dsp:nvSpPr>
        <dsp:cNvPr id="0" name=""/>
        <dsp:cNvSpPr/>
      </dsp:nvSpPr>
      <dsp:spPr>
        <a:xfrm>
          <a:off x="0" y="1772"/>
          <a:ext cx="10770704" cy="8447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B4608D-D3A8-46E7-9090-0D97F38EC490}">
      <dsp:nvSpPr>
        <dsp:cNvPr id="0" name=""/>
        <dsp:cNvSpPr/>
      </dsp:nvSpPr>
      <dsp:spPr>
        <a:xfrm>
          <a:off x="255530" y="191836"/>
          <a:ext cx="465054" cy="4646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C7B9A-3A45-4134-B857-246F8C935405}">
      <dsp:nvSpPr>
        <dsp:cNvPr id="0" name=""/>
        <dsp:cNvSpPr/>
      </dsp:nvSpPr>
      <dsp:spPr>
        <a:xfrm>
          <a:off x="976114" y="1772"/>
          <a:ext cx="9638773" cy="845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88" tIns="89488" rIns="89488" bIns="8948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• Mobil yatırım ekranı içinde </a:t>
          </a:r>
          <a:r>
            <a:rPr lang="en-US" sz="1400" b="1" i="0" kern="1200" baseline="0"/>
            <a:t>60–90 sn’lik akış</a:t>
          </a:r>
          <a:br>
            <a:rPr lang="en-US" sz="1400" b="0" i="0" kern="1200" baseline="0"/>
          </a:br>
          <a:r>
            <a:rPr lang="en-US" sz="1400" b="0" i="0" kern="1200" baseline="0"/>
            <a:t>• Mikro yatırım senaryoları ile </a:t>
          </a:r>
          <a:r>
            <a:rPr lang="en-US" sz="1400" b="1" i="0" kern="1200" baseline="0"/>
            <a:t>karar refleksi ölçümü</a:t>
          </a:r>
          <a:br>
            <a:rPr lang="en-US" sz="1400" b="0" i="0" kern="1200" baseline="0"/>
          </a:br>
          <a:r>
            <a:rPr lang="en-US" sz="1400" b="0" i="0" kern="1200" baseline="0"/>
            <a:t>• Sonuçlar </a:t>
          </a:r>
          <a:r>
            <a:rPr lang="en-US" sz="1400" b="1" i="0" kern="1200" baseline="0"/>
            <a:t>anında ve açıklanabilir şekilde</a:t>
          </a:r>
          <a:r>
            <a:rPr lang="en-US" sz="1400" b="0" i="0" kern="1200" baseline="0"/>
            <a:t> sunulur</a:t>
          </a:r>
          <a:br>
            <a:rPr lang="en-US" sz="1400" b="0" i="0" kern="1200" baseline="0"/>
          </a:br>
          <a:endParaRPr lang="en-US" sz="1400" kern="1200"/>
        </a:p>
      </dsp:txBody>
      <dsp:txXfrm>
        <a:off x="976114" y="1772"/>
        <a:ext cx="9638773" cy="845553"/>
      </dsp:txXfrm>
    </dsp:sp>
    <dsp:sp modelId="{0B6FAD8F-F2E3-464C-9935-6618424D5A82}">
      <dsp:nvSpPr>
        <dsp:cNvPr id="0" name=""/>
        <dsp:cNvSpPr/>
      </dsp:nvSpPr>
      <dsp:spPr>
        <a:xfrm>
          <a:off x="0" y="1008384"/>
          <a:ext cx="10770704" cy="8447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200117-36E6-4EE8-A309-B665A0F3B886}">
      <dsp:nvSpPr>
        <dsp:cNvPr id="0" name=""/>
        <dsp:cNvSpPr/>
      </dsp:nvSpPr>
      <dsp:spPr>
        <a:xfrm>
          <a:off x="255530" y="1198447"/>
          <a:ext cx="465054" cy="4646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2362C-84E5-442E-98BF-FC1E280A619E}">
      <dsp:nvSpPr>
        <dsp:cNvPr id="0" name=""/>
        <dsp:cNvSpPr/>
      </dsp:nvSpPr>
      <dsp:spPr>
        <a:xfrm>
          <a:off x="976114" y="1008384"/>
          <a:ext cx="9638773" cy="845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88" tIns="89488" rIns="89488" bIns="8948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Demo neyi gösteriyor?</a:t>
          </a:r>
          <a:br>
            <a:rPr lang="en-US" sz="1400" b="0" i="0" kern="1200" baseline="0"/>
          </a:br>
          <a:r>
            <a:rPr lang="en-US" sz="1400" b="0" i="0" kern="1200" baseline="0"/>
            <a:t>• Duygusal karar riski </a:t>
          </a:r>
          <a:r>
            <a:rPr lang="en-US" sz="1400" b="1" i="0" kern="1200" baseline="0"/>
            <a:t>düşük / orta / yüksek</a:t>
          </a:r>
          <a:r>
            <a:rPr lang="en-US" sz="1400" b="0" i="0" kern="1200" baseline="0"/>
            <a:t> olarak ayrıştırılabiliyor</a:t>
          </a:r>
          <a:br>
            <a:rPr lang="en-US" sz="1400" b="0" i="0" kern="1200" baseline="0"/>
          </a:br>
          <a:r>
            <a:rPr lang="en-US" sz="1400" b="0" i="0" kern="1200" baseline="0"/>
            <a:t>• Aynı kullanıcı için farklı senaryolarda </a:t>
          </a:r>
          <a:r>
            <a:rPr lang="en-US" sz="1400" b="1" i="0" kern="1200" baseline="0"/>
            <a:t>farklı sonuçlar</a:t>
          </a:r>
          <a:r>
            <a:rPr lang="en-US" sz="1400" b="0" i="0" kern="1200" baseline="0"/>
            <a:t> üretilebiliyor</a:t>
          </a:r>
          <a:br>
            <a:rPr lang="en-US" sz="1400" b="0" i="0" kern="1200" baseline="0"/>
          </a:br>
          <a:r>
            <a:rPr lang="en-US" sz="1400" b="0" i="0" kern="1200" baseline="0"/>
            <a:t>• Kullanıcıya </a:t>
          </a:r>
          <a:r>
            <a:rPr lang="en-US" sz="1400" b="1" i="0" kern="1200" baseline="0"/>
            <a:t>tavsiye değil</a:t>
          </a:r>
          <a:r>
            <a:rPr lang="en-US" sz="1400" b="0" i="0" kern="1200" baseline="0"/>
            <a:t>, farkındalık ve eğitim sunuluyor</a:t>
          </a:r>
          <a:endParaRPr lang="en-US" sz="1400" kern="1200"/>
        </a:p>
      </dsp:txBody>
      <dsp:txXfrm>
        <a:off x="976114" y="1008384"/>
        <a:ext cx="9638773" cy="845553"/>
      </dsp:txXfrm>
    </dsp:sp>
    <dsp:sp modelId="{8CF51894-0028-42C1-9744-929A618CB690}">
      <dsp:nvSpPr>
        <dsp:cNvPr id="0" name=""/>
        <dsp:cNvSpPr/>
      </dsp:nvSpPr>
      <dsp:spPr>
        <a:xfrm>
          <a:off x="0" y="2014995"/>
          <a:ext cx="10770704" cy="8447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67A9F-AEE7-44B6-BD38-BF3E192F7437}">
      <dsp:nvSpPr>
        <dsp:cNvPr id="0" name=""/>
        <dsp:cNvSpPr/>
      </dsp:nvSpPr>
      <dsp:spPr>
        <a:xfrm>
          <a:off x="255530" y="2205059"/>
          <a:ext cx="465054" cy="4646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3F1653-B0D8-4EEA-9EB0-86444D16C1D0}">
      <dsp:nvSpPr>
        <dsp:cNvPr id="0" name=""/>
        <dsp:cNvSpPr/>
      </dsp:nvSpPr>
      <dsp:spPr>
        <a:xfrm>
          <a:off x="976114" y="2014995"/>
          <a:ext cx="9638773" cy="845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88" tIns="89488" rIns="89488" bIns="8948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✓ Çalışan Live PoC</a:t>
          </a:r>
          <a:br>
            <a:rPr lang="en-US" sz="1400" b="0" i="0" kern="1200" baseline="0"/>
          </a:br>
          <a:r>
            <a:rPr lang="en-US" sz="1400" b="0" i="0" kern="1200" baseline="0"/>
            <a:t>✓ Video submission’da </a:t>
          </a:r>
          <a:r>
            <a:rPr lang="en-US" sz="1400" b="1" i="0" kern="1200" baseline="0"/>
            <a:t>gerçek kullanıcı akışı</a:t>
          </a:r>
          <a:r>
            <a:rPr lang="en-US" sz="1400" b="0" i="0" kern="1200" baseline="0"/>
            <a:t> gösterilecek</a:t>
          </a:r>
          <a:endParaRPr lang="en-US" sz="1400" kern="1200"/>
        </a:p>
      </dsp:txBody>
      <dsp:txXfrm>
        <a:off x="976114" y="2014995"/>
        <a:ext cx="9638773" cy="8455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1E9F44-2BF9-490F-B750-70D249C3B9CC}">
      <dsp:nvSpPr>
        <dsp:cNvPr id="0" name=""/>
        <dsp:cNvSpPr/>
      </dsp:nvSpPr>
      <dsp:spPr>
        <a:xfrm>
          <a:off x="911725" y="993476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8C53E-D44E-4AF9-9F72-74CE8C7787C5}">
      <dsp:nvSpPr>
        <dsp:cNvPr id="0" name=""/>
        <dsp:cNvSpPr/>
      </dsp:nvSpPr>
      <dsp:spPr>
        <a:xfrm>
          <a:off x="416725" y="2129187"/>
          <a:ext cx="18000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• </a:t>
          </a:r>
          <a:r>
            <a:rPr lang="en-US" sz="1100" b="1" i="0" kern="1200" baseline="0"/>
            <a:t>Davranışsal yatırım sinyallerinden türetilmiş</a:t>
          </a:r>
          <a:r>
            <a:rPr lang="en-US" sz="1100" b="0" i="0" kern="1200" baseline="0"/>
            <a:t> 20+ feature</a:t>
          </a:r>
          <a:br>
            <a:rPr lang="en-US" sz="1100" b="0" i="0" kern="1200" baseline="0"/>
          </a:br>
          <a:r>
            <a:rPr lang="en-US" sz="1100" b="0" i="1" kern="1200" baseline="0"/>
            <a:t>(senaryo tepkileri, karar hızı, tutarlılık)</a:t>
          </a:r>
          <a:br>
            <a:rPr lang="en-US" sz="1100" b="0" i="1" kern="1200" baseline="0"/>
          </a:br>
          <a:endParaRPr lang="en-US" sz="1100" kern="1200"/>
        </a:p>
      </dsp:txBody>
      <dsp:txXfrm>
        <a:off x="416725" y="2129187"/>
        <a:ext cx="1800000" cy="1035000"/>
      </dsp:txXfrm>
    </dsp:sp>
    <dsp:sp modelId="{6B656E80-1431-48FA-B8A0-E1FB0E0A53F0}">
      <dsp:nvSpPr>
        <dsp:cNvPr id="0" name=""/>
        <dsp:cNvSpPr/>
      </dsp:nvSpPr>
      <dsp:spPr>
        <a:xfrm>
          <a:off x="3026725" y="993476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96442D-D9E3-4192-8AB7-BE711ADCA2CE}">
      <dsp:nvSpPr>
        <dsp:cNvPr id="0" name=""/>
        <dsp:cNvSpPr/>
      </dsp:nvSpPr>
      <dsp:spPr>
        <a:xfrm>
          <a:off x="2531725" y="2129187"/>
          <a:ext cx="18000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• </a:t>
          </a:r>
          <a:r>
            <a:rPr lang="en-US" sz="1100" b="1" i="0" kern="1200" baseline="0"/>
            <a:t>Duygusal karar riski sınıflandırması</a:t>
          </a:r>
          <a:br>
            <a:rPr lang="en-US" sz="1100" b="0" i="0" kern="1200" baseline="0"/>
          </a:br>
          <a:r>
            <a:rPr lang="en-US" sz="1100" b="0" i="1" kern="1200" baseline="0"/>
            <a:t>(düşük / orta / yüksek)</a:t>
          </a:r>
          <a:br>
            <a:rPr lang="en-US" sz="1100" b="0" i="1" kern="1200" baseline="0"/>
          </a:br>
          <a:endParaRPr lang="en-US" sz="1100" kern="1200"/>
        </a:p>
      </dsp:txBody>
      <dsp:txXfrm>
        <a:off x="2531725" y="2129187"/>
        <a:ext cx="1800000" cy="1035000"/>
      </dsp:txXfrm>
    </dsp:sp>
    <dsp:sp modelId="{A1C54745-72D6-491A-AD17-74FB9436C4EA}">
      <dsp:nvSpPr>
        <dsp:cNvPr id="0" name=""/>
        <dsp:cNvSpPr/>
      </dsp:nvSpPr>
      <dsp:spPr>
        <a:xfrm>
          <a:off x="5141725" y="993476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650C86-2639-4A87-8F0B-0129F06D913E}">
      <dsp:nvSpPr>
        <dsp:cNvPr id="0" name=""/>
        <dsp:cNvSpPr/>
      </dsp:nvSpPr>
      <dsp:spPr>
        <a:xfrm>
          <a:off x="4646725" y="2129187"/>
          <a:ext cx="18000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 dirty="0"/>
            <a:t>• </a:t>
          </a:r>
          <a:r>
            <a:rPr lang="en-US" sz="1100" b="1" i="0" kern="1200" baseline="0" dirty="0"/>
            <a:t>Logistic Regression</a:t>
          </a:r>
          <a:br>
            <a:rPr lang="en-US" sz="1100" b="0" i="0" kern="1200" baseline="0" dirty="0"/>
          </a:br>
          <a:r>
            <a:rPr lang="en-US" sz="1100" b="0" i="0" kern="1200" baseline="0" dirty="0"/>
            <a:t>– </a:t>
          </a:r>
          <a:r>
            <a:rPr lang="en-US" sz="1100" b="0" i="0" kern="1200" baseline="0" dirty="0" err="1"/>
            <a:t>Yorumlanabilir</a:t>
          </a:r>
          <a:br>
            <a:rPr lang="en-US" sz="1100" b="0" i="0" kern="1200" baseline="0" dirty="0"/>
          </a:br>
          <a:r>
            <a:rPr lang="en-US" sz="1100" b="0" i="0" kern="1200" baseline="0" dirty="0"/>
            <a:t>– </a:t>
          </a:r>
          <a:r>
            <a:rPr lang="en-US" sz="1100" b="0" i="0" kern="1200" baseline="0" dirty="0" err="1"/>
            <a:t>Regülasyon</a:t>
          </a:r>
          <a:r>
            <a:rPr lang="en-US" sz="1100" b="0" i="0" kern="1200" baseline="0" dirty="0"/>
            <a:t> </a:t>
          </a:r>
          <a:r>
            <a:rPr lang="en-US" sz="1100" b="0" i="0" kern="1200" baseline="0" dirty="0" err="1"/>
            <a:t>ve</a:t>
          </a:r>
          <a:r>
            <a:rPr lang="en-US" sz="1100" b="0" i="0" kern="1200" baseline="0" dirty="0"/>
            <a:t> </a:t>
          </a:r>
          <a:r>
            <a:rPr lang="en-US" sz="1100" b="0" i="0" kern="1200" baseline="0" dirty="0" err="1"/>
            <a:t>denetlenebilirlik</a:t>
          </a:r>
          <a:r>
            <a:rPr lang="en-US" sz="1100" b="0" i="0" kern="1200" baseline="0" dirty="0"/>
            <a:t> </a:t>
          </a:r>
          <a:r>
            <a:rPr lang="en-US" sz="1100" b="0" i="0" kern="1200" baseline="0" dirty="0" err="1"/>
            <a:t>açısından</a:t>
          </a:r>
          <a:r>
            <a:rPr lang="en-US" sz="1100" b="0" i="0" kern="1200" baseline="0" dirty="0"/>
            <a:t> </a:t>
          </a:r>
          <a:r>
            <a:rPr lang="en-US" sz="1100" b="0" i="0" kern="1200" baseline="0" dirty="0" err="1"/>
            <a:t>uygun</a:t>
          </a:r>
          <a:br>
            <a:rPr lang="en-US" sz="1100" b="0" i="0" kern="1200" baseline="0" dirty="0"/>
          </a:br>
          <a:endParaRPr lang="en-US" sz="1100" kern="1200" dirty="0"/>
        </a:p>
      </dsp:txBody>
      <dsp:txXfrm>
        <a:off x="4646725" y="2129187"/>
        <a:ext cx="1800000" cy="1035000"/>
      </dsp:txXfrm>
    </dsp:sp>
    <dsp:sp modelId="{8D1F2724-5381-4634-9708-BA32F590C4AD}">
      <dsp:nvSpPr>
        <dsp:cNvPr id="0" name=""/>
        <dsp:cNvSpPr/>
      </dsp:nvSpPr>
      <dsp:spPr>
        <a:xfrm>
          <a:off x="7256725" y="993476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ACB0C-E038-4359-A430-7C2E062B9AB4}">
      <dsp:nvSpPr>
        <dsp:cNvPr id="0" name=""/>
        <dsp:cNvSpPr/>
      </dsp:nvSpPr>
      <dsp:spPr>
        <a:xfrm>
          <a:off x="6761725" y="2129187"/>
          <a:ext cx="18000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• </a:t>
          </a:r>
          <a:r>
            <a:rPr lang="en-US" sz="1100" b="1" i="0" kern="1200" baseline="0"/>
            <a:t>Açıklanabilirlik (feature contribution)</a:t>
          </a:r>
          <a:br>
            <a:rPr lang="en-US" sz="1100" b="0" i="0" kern="1200" baseline="0"/>
          </a:br>
          <a:r>
            <a:rPr lang="en-US" sz="1100" b="0" i="0" kern="1200" baseline="0"/>
            <a:t>– Her skorun </a:t>
          </a:r>
          <a:r>
            <a:rPr lang="en-US" sz="1100" i="0" kern="1200" baseline="0"/>
            <a:t>neden üretildiği </a:t>
          </a:r>
          <a:r>
            <a:rPr lang="en-US" sz="1100" b="0" i="0" kern="1200" baseline="0"/>
            <a:t>görülebilir</a:t>
          </a:r>
          <a:br>
            <a:rPr lang="en-US" sz="1100" b="0" i="0" kern="1200" baseline="0"/>
          </a:br>
          <a:endParaRPr lang="en-US" sz="1100" kern="1200"/>
        </a:p>
      </dsp:txBody>
      <dsp:txXfrm>
        <a:off x="6761725" y="2129187"/>
        <a:ext cx="1800000" cy="1035000"/>
      </dsp:txXfrm>
    </dsp:sp>
    <dsp:sp modelId="{82B18191-F3FD-40F7-ADC8-0766E692E336}">
      <dsp:nvSpPr>
        <dsp:cNvPr id="0" name=""/>
        <dsp:cNvSpPr/>
      </dsp:nvSpPr>
      <dsp:spPr>
        <a:xfrm>
          <a:off x="9371725" y="993476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73E2F-03BF-44F9-AAF6-5DD6F02890FE}">
      <dsp:nvSpPr>
        <dsp:cNvPr id="0" name=""/>
        <dsp:cNvSpPr/>
      </dsp:nvSpPr>
      <dsp:spPr>
        <a:xfrm>
          <a:off x="8876725" y="2129187"/>
          <a:ext cx="18000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• </a:t>
          </a:r>
          <a:r>
            <a:rPr lang="en-US" sz="1100" b="1" i="0" kern="1200" baseline="0"/>
            <a:t>KVKK uyumlu tasarım</a:t>
          </a:r>
          <a:br>
            <a:rPr lang="en-US" sz="1100" b="0" i="0" kern="1200" baseline="0"/>
          </a:br>
          <a:r>
            <a:rPr lang="en-US" sz="1100" b="0" i="0" kern="1200" baseline="0"/>
            <a:t>– Sağlık verisi yok</a:t>
          </a:r>
          <a:br>
            <a:rPr lang="en-US" sz="1100" b="0" i="0" kern="1200" baseline="0"/>
          </a:br>
          <a:r>
            <a:rPr lang="en-US" sz="1100" b="0" i="0" kern="1200" baseline="0"/>
            <a:t>– Sadece yatırım davranışı sinyalleri</a:t>
          </a:r>
          <a:br>
            <a:rPr lang="en-US" sz="1100" b="0" i="0" kern="1200" baseline="0"/>
          </a:br>
          <a:endParaRPr lang="en-US" sz="1100" kern="1200"/>
        </a:p>
      </dsp:txBody>
      <dsp:txXfrm>
        <a:off x="8876725" y="2129187"/>
        <a:ext cx="1800000" cy="103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B46E-8471-8C13-AAEC-78B623CA7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41C2C-F6E6-AC9E-C672-B6BA7C191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1CAC5-EBE9-6AC7-729A-1A5FACB4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882FC-64D2-4944-5108-522C20D1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A5D36-F403-1540-7D9A-27D70841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09082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1EF7-7296-29D9-69B0-ED29B54B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954A1-4698-3D49-4216-DD5C164B3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B9779-A558-03B1-4F76-6E151949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D93A1-DC1E-F889-8ACE-6CBB326B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6B98C-C2B6-C423-1292-72E1D84C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44199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B86C-BB23-F604-F0E2-8D10137D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4D983-8F64-8796-F88D-8B33FD64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C631D-2F04-1316-1D65-99D93C27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3C6BA-E831-66D5-8D5C-6F4435B2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F4781-9182-B08D-0974-E51D73C1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4883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B1E9-AC22-A03C-486B-28D0890AD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30617-F979-BD3A-F677-9A29785B87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C8F35-2E69-6007-39EE-3102AA12A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8E1BE-8C72-743D-EDE2-53AAFBE52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D6489-697B-B08D-3FF5-489F6991E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42766-AA4C-DFC2-DE9B-70ECB2EB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9300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A1554-D78B-1A09-F4B6-35BDD1E08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26ED3-4A2F-F0E4-CB7B-4A4BFF829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0C0D8-F92C-ABED-1AA5-F48E5A7E6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E84B5-5319-03CA-B070-F4D0A335E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0CE30-7297-3C7A-7B2F-C3E9DCA85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23F054-8C38-2B7E-13CE-1186C9016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D439F-C9BD-9CD3-16E8-28026416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583B5-68F6-D17F-92AB-EB9CD25D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078891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2689-DA5C-2834-B644-A8C6E6E22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CA605-2A73-035A-378D-FAA51403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8D050-F776-5EFD-2582-690CBA2BB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50FBA-CF2F-1030-CACC-80AB2CEE5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7925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1D052-8B5D-B729-79B1-60D5A9374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7E2D69-8DE3-4C4C-35E1-8FA4AE19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34A9B-2C47-FB92-0669-BDEB737E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050729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AF5C9-656E-82AC-5E98-4CDF099B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1D772-200E-CE20-8B9E-57E75A5F0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74CCA-3E1E-35B6-2A74-D6D1F9E52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047BC-BB1C-6092-2A6F-D98EFD05E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64F30-EB2F-DB54-B5DE-62233457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0F5BA-4E23-A85D-68E9-D8F7B035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44088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C409-6974-6D83-BFA3-F2C9B7EEC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933DC-F4AE-651F-DF27-363D6487D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98A94-E34F-4954-FE49-ABB5EFCAA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CE0BE-B1E8-79CA-DC7B-DC0906956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AED85-4B37-8E8F-0AE5-A8C3D046E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293EB-E2B1-9D75-9120-2A1EAF68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060576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D843-A9F8-960A-7C02-F419DB4C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28D005-6572-3722-9CF0-69DA501FD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9E3E5-2593-99DD-C02E-5462E06B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A0CB4-83F1-D010-6263-0B92CAF52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D3761-844B-B6E4-FCEF-8A7525448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75285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A77E3-59DE-E712-D5CA-45E483F57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60658-D668-F83D-5D17-67961520B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171A6-1521-FE2B-60E8-8BCACF3C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5941E-EC12-A652-BCB8-CD6A09D9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0FB9-C996-814B-CA73-59F66DDBC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27740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0F2404-6009-79A6-3AA0-8FBC927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AD934-1389-3FAE-7769-E41A387EE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83A4A-6F23-EF75-D24A-5FE312CF2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65FCF-13B5-854E-876F-347BA4967362}" type="datetimeFigureOut">
              <a:rPr lang="en-TR" smtClean="0"/>
              <a:t>10.02.2026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BD6E7-AC48-CDA8-DEF7-663FCB2CC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438D1-0C05-8704-4B4B-95B98AA16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0D09C-290A-EC42-B0B4-8B0A1B94DA5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29709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962F7-16D7-E53B-3F94-A0B6861C2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TR" sz="4800">
                <a:solidFill>
                  <a:srgbClr val="FFFFFF"/>
                </a:solidFill>
              </a:rPr>
              <a:t>MİNDVEST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224D0D-2081-3FC9-5CD2-7CD8C35E78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89871" y="4664636"/>
            <a:ext cx="10005951" cy="14582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Yatırımcıların yüksek</a:t>
            </a:r>
            <a:r>
              <a:rPr kumimoji="0" lang="en-TR" altLang="en-TR" sz="2200" b="1" i="0" u="none" strike="noStrike" cap="none" normalizeH="0" dirty="0">
                <a:ln>
                  <a:noFill/>
                </a:ln>
                <a:effectLst/>
                <a:latin typeface="Arial" panose="020B0604020202020204" pitchFamily="34" charset="0"/>
              </a:rPr>
              <a:t> votalite dönemlerinde karar süreçlerine yönelik </a:t>
            </a:r>
            <a:r>
              <a:rPr kumimoji="0" lang="en-TR" altLang="en-TR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risk farkındalığı sağlayan yapay zeka destekli bankacılık asistanı</a:t>
            </a:r>
            <a:endParaRPr kumimoji="0" lang="en-TR" altLang="en-TR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sz="22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PoC + canlı ürün demosu</a:t>
            </a:r>
            <a:endParaRPr kumimoji="0" lang="en-TR" altLang="en-TR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A770228-AE7C-26F2-DD7F-0BD5E490A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9618" y="5958439"/>
            <a:ext cx="620433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Yatırım tavsiyesi vermez.</a:t>
            </a:r>
            <a:b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Ama yatırımcı davranışını daha </a:t>
            </a:r>
            <a:r>
              <a:rPr lang="en-TR" altLang="en-TR" dirty="0">
                <a:solidFill>
                  <a:srgbClr val="000000"/>
                </a:solidFill>
                <a:latin typeface="-webkit-standard"/>
              </a:rPr>
              <a:t>kontrollü ve bilinçli</a:t>
            </a: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hale getirir.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38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32DA8B-C364-AE26-239F-39C094875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TR" sz="5200"/>
              <a:t>Problem </a:t>
            </a:r>
          </a:p>
        </p:txBody>
      </p:sp>
      <p:graphicFrame>
        <p:nvGraphicFramePr>
          <p:cNvPr id="23" name="Rectangle 1">
            <a:extLst>
              <a:ext uri="{FF2B5EF4-FFF2-40B4-BE49-F238E27FC236}">
                <a16:creationId xmlns:a16="http://schemas.microsoft.com/office/drawing/2014/main" id="{B9348FAC-91D2-D8F8-04B3-9B30E62D62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008813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7475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FFCDD23B-75C8-427B-BD08-53C8156CD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64" y="5282206"/>
            <a:ext cx="12192264" cy="1163844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11000"/>
                </a:schemeClr>
              </a:gs>
              <a:gs pos="100000">
                <a:srgbClr val="000000">
                  <a:alpha val="77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5282206"/>
            <a:ext cx="12191998" cy="158648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E6072A-D6F0-4E4C-3160-BCC97CA6CF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99715" y="5635366"/>
            <a:ext cx="7091299" cy="8985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Aft>
                <a:spcPct val="0"/>
              </a:spcAft>
              <a:buClrTx/>
              <a:buSzTx/>
              <a:tabLst/>
            </a:pPr>
            <a:r>
              <a:rPr kumimoji="0" lang="en-US" altLang="en-TR" sz="4000" b="0" i="0" u="none" strike="noStrike" kern="1200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Çözüm</a:t>
            </a:r>
            <a:r>
              <a:rPr kumimoji="0" lang="en-US" altLang="en-TR" sz="4000" b="0" i="0" u="none" strike="noStrike" kern="1200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— </a:t>
            </a:r>
            <a:r>
              <a:rPr kumimoji="0" lang="en-US" altLang="en-TR" sz="4000" b="0" i="0" u="none" strike="noStrike" kern="1200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MindVest</a:t>
            </a:r>
            <a:endParaRPr kumimoji="0" lang="en-US" altLang="en-TR" sz="4000" b="0" i="0" u="none" strike="noStrike" kern="1200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5282206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1BFA58-F43C-48FA-44A6-04C0A42CB3A0}"/>
              </a:ext>
            </a:extLst>
          </p:cNvPr>
          <p:cNvSpPr txBox="1"/>
          <p:nvPr/>
        </p:nvSpPr>
        <p:spPr>
          <a:xfrm>
            <a:off x="1072056" y="386165"/>
            <a:ext cx="8776138" cy="690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MindVest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mevcut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yatırım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akışlarına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entegre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olan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davranışsal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karar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destek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katmanıdır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C36CC9C-EBD6-F51A-6AE0-CBC20AA3E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0916" y="6005694"/>
            <a:ext cx="47390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-webkit-standard"/>
              </a:rPr>
              <a:t>“MindVest, finansal uygunluğu değil;</a:t>
            </a:r>
            <a:b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</a:rPr>
            </a:b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-webkit-standard"/>
              </a:rPr>
              <a:t>karar anındaki davranış riskini yönetir.”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4C3E24-8572-8C57-375F-7A68690DB31B}"/>
              </a:ext>
            </a:extLst>
          </p:cNvPr>
          <p:cNvSpPr txBox="1"/>
          <p:nvPr/>
        </p:nvSpPr>
        <p:spPr>
          <a:xfrm>
            <a:off x="91559" y="1154176"/>
            <a:ext cx="6516942" cy="33720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Yatırımcıların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volatilite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anlarındaki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davranışsal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sinyallerini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analiz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eder</a:t>
            </a:r>
            <a:b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</a:br>
            <a:endParaRPr lang="en-US" kern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• 60–90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sn’lik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yatırım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senaryoları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ile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karar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reflekslerini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ölçer</a:t>
            </a:r>
            <a:b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</a:br>
            <a:endParaRPr lang="en-US" kern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• Yüksek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duygusal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karar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riski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tespit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edildiğinde</a:t>
            </a:r>
            <a:endParaRPr lang="en-US" kern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farkındalık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eğitim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odaklı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yönlendirme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sunar</a:t>
            </a:r>
            <a:b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</a:br>
            <a:endParaRPr lang="en-US" kern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Yatırım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tavsiyesi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vermez</a:t>
            </a:r>
            <a:b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</a:br>
            <a:endParaRPr lang="en-US" kern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Mevcut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robo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-advisor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ve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suitability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süreçlerini</a:t>
            </a:r>
            <a:r>
              <a:rPr lang="en-US" kern="12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rPr>
              <a:t>tamamlar</a:t>
            </a:r>
            <a:endParaRPr lang="en-US" kern="12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40" name="Picture 39" descr="A table with text on it&#10;&#10;AI-generated content may be incorrect.">
            <a:extLst>
              <a:ext uri="{FF2B5EF4-FFF2-40B4-BE49-F238E27FC236}">
                <a16:creationId xmlns:a16="http://schemas.microsoft.com/office/drawing/2014/main" id="{DB638B2D-68D6-7940-6279-33A1AFD15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501" y="1977722"/>
            <a:ext cx="5219196" cy="22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075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94E22-B675-5D98-25A2-1BDA3C056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65" y="318052"/>
            <a:ext cx="3356113" cy="835923"/>
          </a:xfrm>
        </p:spPr>
        <p:txBody>
          <a:bodyPr/>
          <a:lstStyle/>
          <a:p>
            <a:r>
              <a:rPr lang="en-TR" dirty="0"/>
              <a:t>Nasıl Çalışır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93776425-9B19-1605-B4E4-08A467960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6673927"/>
              </p:ext>
            </p:extLst>
          </p:nvPr>
        </p:nvGraphicFramePr>
        <p:xfrm>
          <a:off x="1116496" y="1575571"/>
          <a:ext cx="8763000" cy="2585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D4E34E65-49B3-74C3-CAD8-F9FA5EE54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813" y="4403968"/>
            <a:ext cx="95183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Çıktı: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– Yüksek / Orta / Düşük </a:t>
            </a:r>
            <a:r>
              <a:rPr kumimoji="0" lang="en-TR" altLang="en-TR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duygusal karar riski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– Yatırımcı davranış tipi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– </a:t>
            </a:r>
            <a:r>
              <a:rPr kumimoji="0" lang="en-TR" altLang="en-TR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Eğitim ve farkındalık odaklı yönlendirme</a:t>
            </a:r>
            <a:endParaRPr kumimoji="0" lang="en-TR" altLang="en-T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051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3133C81-FFA3-5DB3-0969-A25F04014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2460" y="296316"/>
            <a:ext cx="6417365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Demo / Kullanıcı Deneyimi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Rectangle 2">
            <a:extLst>
              <a:ext uri="{FF2B5EF4-FFF2-40B4-BE49-F238E27FC236}">
                <a16:creationId xmlns:a16="http://schemas.microsoft.com/office/drawing/2014/main" id="{40D2CC74-7E52-8F6F-8085-5969615954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9903" y="1675611"/>
          <a:ext cx="10770705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AAC1E296-57FE-2D57-6897-AFACDE719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530" y="5182389"/>
            <a:ext cx="798443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TR" altLang="en-TR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Örnek çıktılar:</a:t>
            </a:r>
            <a:endParaRPr kumimoji="0" lang="en-TR" altLang="en-TR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Kullanıcı A → düşük risk → “planlı devam”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Kullanıcı B → yüksek risk → “farkındalık uyarısı”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R" altLang="en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852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D416AAA-ECCB-043D-4C95-22B3E7BC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4" cy="1325563"/>
          </a:xfrm>
        </p:spPr>
        <p:txBody>
          <a:bodyPr>
            <a:normAutofit/>
          </a:bodyPr>
          <a:lstStyle/>
          <a:p>
            <a:r>
              <a:rPr lang="en-TR" sz="4000"/>
              <a:t>Yapay Zeka Katmanı</a:t>
            </a:r>
          </a:p>
        </p:txBody>
      </p:sp>
      <p:graphicFrame>
        <p:nvGraphicFramePr>
          <p:cNvPr id="20" name="Rectangle 1">
            <a:extLst>
              <a:ext uri="{FF2B5EF4-FFF2-40B4-BE49-F238E27FC236}">
                <a16:creationId xmlns:a16="http://schemas.microsoft.com/office/drawing/2014/main" id="{7B38D982-FDE8-EA56-9CE4-CF79190F0A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7425765"/>
              </p:ext>
            </p:extLst>
          </p:nvPr>
        </p:nvGraphicFramePr>
        <p:xfrm>
          <a:off x="547688" y="2133600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6D210F48-3C49-3CBB-8277-20F64A405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4359" y="5860377"/>
            <a:ext cx="619677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sz="11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PoC amacı:</a:t>
            </a:r>
            <a:br>
              <a:rPr kumimoji="0" lang="en-TR" altLang="en-TR" sz="11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1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-webkit-standard"/>
              </a:rPr>
              <a:t>Model doğruluğunu değil,</a:t>
            </a:r>
            <a:r>
              <a:rPr lang="en-TR" altLang="en-TR" sz="1100" dirty="0">
                <a:solidFill>
                  <a:schemeClr val="accent1">
                    <a:lumMod val="75000"/>
                  </a:schemeClr>
                </a:solidFill>
                <a:latin typeface="-webkit-standard"/>
              </a:rPr>
              <a:t> </a:t>
            </a:r>
            <a:r>
              <a:rPr kumimoji="0" lang="en-TR" altLang="en-TR" sz="11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davranışsal risk sinyallerinin anlamlı şekilde ayrıştırılabildiğini</a:t>
            </a:r>
            <a:r>
              <a:rPr kumimoji="0" lang="en-TR" altLang="en-TR" sz="11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-webkit-standard"/>
              </a:rPr>
              <a:t> </a:t>
            </a:r>
            <a:r>
              <a:rPr kumimoji="0" lang="en-TR" altLang="en-TR" sz="11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-webkit-standard"/>
              </a:rPr>
              <a:t>göstermek.</a:t>
            </a:r>
            <a:endParaRPr kumimoji="0" lang="en-TR" altLang="en-TR" sz="11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9919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1C61-BADD-DD33-45BB-A9F010EFE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98096" cy="835923"/>
          </a:xfrm>
        </p:spPr>
        <p:txBody>
          <a:bodyPr/>
          <a:lstStyle/>
          <a:p>
            <a:r>
              <a:rPr lang="en-TR" dirty="0"/>
              <a:t>Garanti BBVA için Neden?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24A28A-5C9C-3AA4-C450-7A09AEB1B2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28900" y="1448394"/>
            <a:ext cx="6934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MindVest</a:t>
            </a: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mevcut mobil yatırım akışına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ek bir davranışsal karar destek katmanı </a:t>
            </a: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olarak entegre edilir.</a:t>
            </a:r>
            <a:endParaRPr kumimoji="0" lang="en-TR" altLang="en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474582F-9206-87C1-569B-62CE7B254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65" y="2900867"/>
            <a:ext cx="512196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Bankaya Etkisi: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• Volatil piyasa koşullarında verilen davranışsal farkındalık uyarıları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→ panik satış oranı ↓(A/B test)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• Daha kontrollü yatırım deneyimi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→ yatırımda kalma süresi ↑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• Genç kullanıcılar için “koruyucu deneyim”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→ müşteri bağlılığı ↑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• Uzun vadeli davranış iyileşmesi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→ AUM büyümesine dolaylı katkı</a:t>
            </a:r>
            <a:endParaRPr kumimoji="0" lang="en-TR" altLang="en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9B01857-02A4-BEDE-4D87-CCC0E5C54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1971" y="2900867"/>
            <a:ext cx="459850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Pilot Önerisi (Düşük riskli &amp; ölçülebilir):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Hedef: 18–30 yaş, aktif yatırımcı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Süre: 4–6 hafta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Kontrol / test grubu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kumimoji="0" lang="en-TR" altLang="en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Takip edilen KPI’lar: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Panik satış oranı 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Aktif yatırım günü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Uyarı sonrası davranış değişimi</a:t>
            </a:r>
            <a:b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 Genç müşteri churn</a:t>
            </a:r>
            <a:endParaRPr kumimoji="0" lang="en-TR" altLang="en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070FBC-E357-54E1-0224-A14CF381E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29" y="900210"/>
            <a:ext cx="1023248" cy="148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37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AF12A2-FC94-6DE8-9213-7CA2D5F09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6722" y="586855"/>
            <a:ext cx="3201366" cy="33874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sz="4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-webkit-standard"/>
              </a:rPr>
              <a:t>Regülasyon &amp; Etik</a:t>
            </a:r>
            <a:endParaRPr kumimoji="0" lang="en-TR" altLang="en-TR" sz="4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208227F-364A-640E-767C-1E65E14C30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• </a:t>
            </a:r>
            <a:r>
              <a:rPr kumimoji="0" lang="en-TR" altLang="en-TR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Yatırım tavsiyesi vermez</a:t>
            </a:r>
            <a:b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Al / sat / ürün önerisi yok</a:t>
            </a:r>
            <a:b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TR" altLang="en-TR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• </a:t>
            </a:r>
            <a:r>
              <a:rPr kumimoji="0" lang="en-TR" altLang="en-TR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Karar almaz, karar destekler</a:t>
            </a:r>
            <a:b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Nihai aksiyon her zaman kullanıcıya aittir</a:t>
            </a:r>
            <a:b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TR" altLang="en-TR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• </a:t>
            </a:r>
            <a:r>
              <a:rPr kumimoji="0" lang="en-TR" altLang="en-TR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Davranışsal sinyal odaklıdır</a:t>
            </a:r>
            <a:b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Sağlık veya klinik veri kullanılmaz</a:t>
            </a:r>
            <a:b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TR" altLang="en-TR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• </a:t>
            </a:r>
            <a:r>
              <a:rPr kumimoji="0" lang="en-TR" altLang="en-TR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Eğitim ve farkındalık temellidir</a:t>
            </a:r>
            <a:b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Risk bilinci, disiplin, uzun vadeli bakış</a:t>
            </a:r>
            <a:b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TR" altLang="en-TR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• </a:t>
            </a:r>
            <a:r>
              <a:rPr kumimoji="0" lang="en-TR" altLang="en-TR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KVKK uyumlu mimari</a:t>
            </a:r>
            <a:b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Veri minimizasyonu</a:t>
            </a:r>
            <a:b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Açıklanabilir skorlar</a:t>
            </a:r>
            <a:b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TR" altLang="en-TR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– Kullanıcı onayı ile çalışma</a:t>
            </a:r>
          </a:p>
        </p:txBody>
      </p:sp>
    </p:spTree>
    <p:extLst>
      <p:ext uri="{BB962C8B-B14F-4D97-AF65-F5344CB8AC3E}">
        <p14:creationId xmlns:p14="http://schemas.microsoft.com/office/powerpoint/2010/main" val="511681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E734232-46A8-4884-9A59-B7E3BA4BC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46B8D2-3218-41A5-B817-9ABFB108C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462444"/>
            <a:ext cx="12191998" cy="2394056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E014CA-4279-4E70-AC56-0BBEBF92C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4464543"/>
            <a:ext cx="8115300" cy="23919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B3DCF8-9D1E-4907-B1EC-98D11BC16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6" y="4462444"/>
            <a:ext cx="12196636" cy="2394056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D6B9EF-FF47-487C-8B82-F9F2B9A54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7" y="4466372"/>
            <a:ext cx="4076697" cy="2390128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32CC3B-51BD-4247-90B0-17E297F81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4469521"/>
            <a:ext cx="12192001" cy="19333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205AFEB-6768-4A82-A0F0-8F9CDD993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34054">
            <a:off x="6748954" y="2254165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31000">
                <a:schemeClr val="accent1">
                  <a:alpha val="0"/>
                </a:schemeClr>
              </a:gs>
              <a:gs pos="85000">
                <a:schemeClr val="accent1">
                  <a:alpha val="13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2DA55-11F9-05AE-F1AC-D150D7BBE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4905954"/>
            <a:ext cx="9448802" cy="86431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Yol Haritası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32211-DD0A-9BED-97AF-24397C575F52}"/>
              </a:ext>
            </a:extLst>
          </p:cNvPr>
          <p:cNvSpPr txBox="1"/>
          <p:nvPr/>
        </p:nvSpPr>
        <p:spPr>
          <a:xfrm>
            <a:off x="3908813" y="2024650"/>
            <a:ext cx="4576063" cy="12927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TR" b="1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3–6 Ay | Mobil </a:t>
            </a:r>
            <a:r>
              <a:rPr kumimoji="0" lang="en-US" altLang="en-TR" b="1" i="0" u="none" strike="noStrike" kern="1200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Yatırım</a:t>
            </a:r>
            <a:r>
              <a:rPr kumimoji="0" lang="en-US" altLang="en-TR" b="1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0" lang="en-US" altLang="en-TR" b="1" i="0" u="none" strike="noStrike" kern="1200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Entegrasyonu</a:t>
            </a:r>
            <a:br>
              <a:rPr kumimoji="0" lang="en-US" altLang="en-TR" b="0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0" lang="en-US" altLang="en-TR" b="0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kumimoji="0" lang="en-US" altLang="en-TR" b="0" i="0" u="none" strike="noStrike" kern="1200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Akış</a:t>
            </a:r>
            <a:r>
              <a:rPr kumimoji="0" lang="en-US" altLang="en-TR" b="0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0" lang="en-US" altLang="en-TR" b="0" i="0" u="none" strike="noStrike" kern="1200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optimizasyonu</a:t>
            </a:r>
            <a:br>
              <a:rPr kumimoji="0" lang="en-US" altLang="en-TR" b="0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0" lang="en-US" altLang="en-TR" b="0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• </a:t>
            </a:r>
            <a:r>
              <a:rPr kumimoji="0" lang="en-US" altLang="en-TR" b="0" i="0" u="none" strike="noStrike" kern="1200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Kullanıcı</a:t>
            </a:r>
            <a:r>
              <a:rPr kumimoji="0" lang="en-US" altLang="en-TR" b="0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0" lang="en-US" altLang="en-TR" b="0" i="0" u="none" strike="noStrike" kern="1200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geri</a:t>
            </a:r>
            <a:r>
              <a:rPr kumimoji="0" lang="en-US" altLang="en-TR" b="0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0" lang="en-US" altLang="en-TR" b="0" i="0" u="none" strike="noStrike" kern="1200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bildirimleri</a:t>
            </a:r>
            <a:br>
              <a:rPr kumimoji="0" lang="en-US" altLang="en-TR" b="0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</a:br>
            <a:r>
              <a:rPr kumimoji="0" lang="en-US" altLang="en-TR" b="0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• KPI </a:t>
            </a:r>
            <a:r>
              <a:rPr kumimoji="0" lang="en-US" altLang="en-TR" b="0" i="0" u="none" strike="noStrike" kern="1200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bazlı</a:t>
            </a:r>
            <a:r>
              <a:rPr kumimoji="0" lang="en-US" altLang="en-TR" b="0" i="0" u="none" strike="noStrike" kern="1200" cap="none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0" lang="en-US" altLang="en-TR" b="0" i="0" u="none" strike="noStrike" kern="1200" cap="none" normalizeH="0" baseline="0" dirty="0" err="1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lt"/>
                <a:ea typeface="+mn-ea"/>
                <a:cs typeface="+mn-cs"/>
              </a:rPr>
              <a:t>iyileştirme</a:t>
            </a:r>
            <a:endParaRPr kumimoji="0" lang="en-US" altLang="en-TR" b="0" i="0" u="none" strike="noStrike" kern="1200" cap="none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D5E0E7-77A2-50C2-91B5-BE73BFA88D48}"/>
              </a:ext>
            </a:extLst>
          </p:cNvPr>
          <p:cNvSpPr txBox="1"/>
          <p:nvPr/>
        </p:nvSpPr>
        <p:spPr>
          <a:xfrm>
            <a:off x="912283" y="273661"/>
            <a:ext cx="44627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0–3 Ay | Kapalı Pilot</a:t>
            </a:r>
            <a:br>
              <a:rPr kumimoji="0" lang="en-TR" altLang="en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(≈500 kullanıcı)</a:t>
            </a:r>
            <a:b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Davranış sinyallerinin doğrulanması</a:t>
            </a:r>
            <a:b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Risk sınıflarının kalibrasyonu</a:t>
            </a:r>
            <a:b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Uyarı sonrası davranış değişimi ölçümü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9AF926-47E4-ADA7-9CAE-6BF747A55838}"/>
              </a:ext>
            </a:extLst>
          </p:cNvPr>
          <p:cNvSpPr txBox="1"/>
          <p:nvPr/>
        </p:nvSpPr>
        <p:spPr>
          <a:xfrm>
            <a:off x="6501945" y="3320898"/>
            <a:ext cx="54853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6–12 Ay | Davranış Motoru &amp; Banka Dashboard</a:t>
            </a:r>
            <a:b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Segment bazlı içgörüler</a:t>
            </a:r>
            <a:b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Genç yatırımcı davranış haritaları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D29F74-62E0-C04A-0253-4E43A1705866}"/>
              </a:ext>
            </a:extLst>
          </p:cNvPr>
          <p:cNvSpPr txBox="1"/>
          <p:nvPr/>
        </p:nvSpPr>
        <p:spPr>
          <a:xfrm>
            <a:off x="4866290" y="5623034"/>
            <a:ext cx="69423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b="0" i="1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Not: İlk PoC sentetik veri ile geliştirilmiştir.</a:t>
            </a:r>
            <a:br>
              <a:rPr kumimoji="0" lang="en-TR" altLang="en-TR" b="0" i="1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b="0" i="1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Pilot aşamada yalnızca kullanıcı etkileşimlerine dayalı,</a:t>
            </a:r>
            <a:br>
              <a:rPr kumimoji="0" lang="en-TR" altLang="en-TR" b="0" i="1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b="0" i="1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KVKK uyumlu gerçek davranış verileri ile model güncellenecektir.</a:t>
            </a:r>
            <a:endParaRPr kumimoji="0" lang="en-TR" altLang="en-TR" b="0" i="0" u="none" strike="noStrike" cap="none" normalizeH="0" baseline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8A3D479-34FD-E097-E379-17D7DB36E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1" y="455103"/>
            <a:ext cx="484854" cy="47490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F8D6DEF-22D6-FB1D-7BE6-895F419E8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644" y="2100960"/>
            <a:ext cx="487495" cy="48749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02B0C9F-9F75-53EA-F53A-BAB7BF445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314" y="3429000"/>
            <a:ext cx="548631" cy="50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51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311DBB-662A-0F16-A0A6-4EA828BB6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Vizyon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&amp;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Ekip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8EC390-C124-59A0-3C67-14D0A30C1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907" y="5391807"/>
            <a:ext cx="3462631" cy="12183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70000" lnSpcReduction="20000"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TR" sz="20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Nevroz Aslan</a:t>
            </a:r>
            <a:br>
              <a:rPr kumimoji="0" lang="en-US" altLang="en-TR" sz="20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</a:br>
            <a:r>
              <a:rPr kumimoji="0" lang="en-US" altLang="en-TR" sz="1400" i="1" u="none" strike="noStrike" cap="none" normalizeH="0" baseline="0" dirty="0">
                <a:ln>
                  <a:noFill/>
                </a:ln>
                <a:effectLst/>
                <a:latin typeface="+mn-lt"/>
              </a:rPr>
              <a:t>Software Engineer / Machine Learning (Behavioral AI)</a:t>
            </a:r>
            <a:br>
              <a:rPr kumimoji="0" lang="en-US" altLang="en-TR" sz="1400" i="1" u="none" strike="noStrike" cap="none" normalizeH="0" baseline="0" dirty="0">
                <a:ln>
                  <a:noFill/>
                </a:ln>
                <a:effectLst/>
                <a:latin typeface="+mn-lt"/>
              </a:rPr>
            </a:br>
            <a:endParaRPr kumimoji="0" lang="en-US" altLang="en-TR" sz="140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TR" sz="20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Davranışsal</a:t>
            </a:r>
            <a:r>
              <a:rPr kumimoji="0" lang="en-US" altLang="en-TR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AI </a:t>
            </a:r>
            <a:r>
              <a:rPr kumimoji="0" lang="en-US" altLang="en-TR" sz="20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modeli</a:t>
            </a:r>
            <a:endParaRPr kumimoji="0" lang="en-US" altLang="en-TR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TR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Demo &amp; </a:t>
            </a:r>
            <a:r>
              <a:rPr kumimoji="0" lang="en-US" altLang="en-TR" sz="20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teknik</a:t>
            </a:r>
            <a:r>
              <a:rPr kumimoji="0" lang="en-US" altLang="en-TR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</a:t>
            </a:r>
            <a:r>
              <a:rPr kumimoji="0" lang="en-US" altLang="en-TR" sz="20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mimari</a:t>
            </a:r>
            <a:endParaRPr kumimoji="0" lang="en-US" altLang="en-TR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TR" sz="20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Regülasyon</a:t>
            </a:r>
            <a:r>
              <a:rPr kumimoji="0" lang="en-US" altLang="en-TR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</a:t>
            </a:r>
            <a:r>
              <a:rPr kumimoji="0" lang="en-US" altLang="en-TR" sz="20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uyumlu</a:t>
            </a:r>
            <a:r>
              <a:rPr kumimoji="0" lang="en-US" altLang="en-TR" sz="2000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 ML </a:t>
            </a:r>
            <a:r>
              <a:rPr kumimoji="0" lang="en-US" altLang="en-TR" sz="2000" b="0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tasarımı</a:t>
            </a:r>
            <a:endParaRPr kumimoji="0" lang="en-US" altLang="en-TR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TR" sz="2000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07B2792A-21BD-B90F-3E0E-750FDA31A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917" y="5282026"/>
            <a:ext cx="3899062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TR" altLang="en-TR" sz="1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Rojen Aslan</a:t>
            </a:r>
            <a:br>
              <a:rPr kumimoji="0" lang="en-TR" altLang="en-TR" sz="13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9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Product &amp; User Experience (Pilot &amp; Content)</a:t>
            </a:r>
            <a:endParaRPr kumimoji="0" lang="en-TR" altLang="en-TR" sz="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TR" altLang="en-TR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Mikro assessment akışı (60–90 sn)</a:t>
            </a:r>
            <a:br>
              <a:rPr kumimoji="0" lang="en-TR" altLang="en-TR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Davranış senaryoları (kayıp / FOMO / sosyal tetik)</a:t>
            </a:r>
            <a:br>
              <a:rPr kumimoji="0" lang="en-TR" altLang="en-TR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kumimoji="0" lang="en-TR" altLang="en-TR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Eğitim &amp; farkındalık yönlendirme dili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79F4D52-359E-B2A5-DF9F-EAF336350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93" y="5530791"/>
            <a:ext cx="596135" cy="610465"/>
          </a:xfrm>
          <a:prstGeom prst="rect">
            <a:avLst/>
          </a:prstGeom>
        </p:spPr>
      </p:pic>
      <p:sp>
        <p:nvSpPr>
          <p:cNvPr id="42" name="Rectangle 14">
            <a:extLst>
              <a:ext uri="{FF2B5EF4-FFF2-40B4-BE49-F238E27FC236}">
                <a16:creationId xmlns:a16="http://schemas.microsoft.com/office/drawing/2014/main" id="{39A29C18-9FE7-7D5E-627F-BF35A69E1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836" y="2248124"/>
            <a:ext cx="92938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TR" altLang="en-T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-webkit-standard"/>
              </a:rPr>
              <a:t>Yatırım kararlarını değil, yatırımcıların karar verme süreçlerini koruyan bir bankacılık deneyimi</a:t>
            </a:r>
            <a:r>
              <a:rPr kumimoji="0" lang="en-TR" altLang="en-TR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kumimoji="0" lang="en-TR" altLang="en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475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842</Words>
  <Application>Microsoft Macintosh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-webkit-standard</vt:lpstr>
      <vt:lpstr>Aptos</vt:lpstr>
      <vt:lpstr>Aptos Display</vt:lpstr>
      <vt:lpstr>Arial</vt:lpstr>
      <vt:lpstr>Office Theme</vt:lpstr>
      <vt:lpstr>MİNDVEST</vt:lpstr>
      <vt:lpstr>Problem </vt:lpstr>
      <vt:lpstr>Çözüm — MindVest</vt:lpstr>
      <vt:lpstr>Nasıl Çalışır</vt:lpstr>
      <vt:lpstr>Demo / Kullanıcı Deneyimi</vt:lpstr>
      <vt:lpstr>Yapay Zeka Katmanı</vt:lpstr>
      <vt:lpstr>Garanti BBVA için Neden?</vt:lpstr>
      <vt:lpstr>Regülasyon &amp; Etik</vt:lpstr>
      <vt:lpstr>Yol Haritası</vt:lpstr>
      <vt:lpstr>Vizyon &amp; Ekip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NEVROZ ASLAN</dc:creator>
  <cp:lastModifiedBy>NEVROZ ASLAN</cp:lastModifiedBy>
  <cp:revision>1</cp:revision>
  <dcterms:created xsi:type="dcterms:W3CDTF">2026-02-10T12:49:11Z</dcterms:created>
  <dcterms:modified xsi:type="dcterms:W3CDTF">2026-02-10T16:53:54Z</dcterms:modified>
</cp:coreProperties>
</file>